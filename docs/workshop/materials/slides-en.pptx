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5"/>
  </p:sldMasterIdLst>
  <p:notesMasterIdLst>
    <p:notesMasterId r:id="rId9"/>
  </p:notesMasterIdLst>
  <p:sldIdLst>
    <p:sldId id="256" r:id="rId8"/>
    <p:sldId id="257" r:id="rId7"/>
    <p:sldId id="258" r:id="rId6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</p:sldIdLst>
  <p:sldSz cx="12192000" cy="6858000"/>
  <p:notesSz cx="6858000" cy="9144000"/>
  <p:embeddedFontLst>
    <p:embeddedFont>
      <p:font typeface="Figtree"/>
      <p:regular r:id="rId10"/>
      <p:bold r:id="rId11"/>
      <p:italic r:id="rId12"/>
      <p:boldItalic r:id="rId13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6327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ln w="31750">
              <a:solidFill>
                <a:srgbClr val="004791"/>
              </a:solidFill>
            </a:ln>
          </c:spPr>
          <c:cat>
            <c:strRef>
              <c:f>Sheet1!$A$2:$A$11</c:f>
              <c:strCache>
                <c:ptCount val="10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  <c:pt idx="5">
                  <c:v>Run 6</c:v>
                </c:pt>
                <c:pt idx="6">
                  <c:v>Run 7</c:v>
                </c:pt>
                <c:pt idx="7">
                  <c:v>Run 8</c:v>
                </c:pt>
                <c:pt idx="8">
                  <c:v>Run 9</c:v>
                </c:pt>
                <c:pt idx="9">
                  <c:v>Run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61</c:v>
                </c:pt>
                <c:pt idx="2">
                  <c:v>68</c:v>
                </c:pt>
                <c:pt idx="3">
                  <c:v>73</c:v>
                </c:pt>
                <c:pt idx="4">
                  <c:v>76</c:v>
                </c:pt>
                <c:pt idx="5">
                  <c:v>75</c:v>
                </c:pt>
                <c:pt idx="6">
                  <c:v>78</c:v>
                </c:pt>
                <c:pt idx="7">
                  <c:v>76</c:v>
                </c:pt>
                <c:pt idx="8">
                  <c:v>77</c:v>
                </c:pt>
                <c:pt idx="9">
                  <c:v>76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8C4"/>
            </a:solidFill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40.0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Performance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ACA97-DCC5-D741-8303-D68B06D997A0}" type="datetimeFigureOut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02129-24FE-4746-9897-C7E55345F5D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17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speaker. Today: how station design shapes the crew's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brief visit; crews live with the design every hour. First station crew (Salyut 1, 1971): 24 days; ISS crews: ~6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Messy, machine-centric evolution — equipment first, humans adapt.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pattern repeats across decades.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runs from ground analogues to orbit. SV/EL decks: use the national-connection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the best we have now — messy, loud, poor light, cramped.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 → whiteboard: space, then school/home, then what helps you relax. The board stays up all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to name three link elements before showing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the whiteboard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real places astronauts spend time: the Cupola window and the phone-booth-sized sleeping quarters. Ask: where would you rather spend six months?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Inspiring — but perhaps centuries away (the speaker's own estimate).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taking those steps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the question first. Three tests, three cognitive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tests ran in the Utah desert with analogue crews and on the ISS with Marcus Wandt. Today the class joins that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the QR when ready. Show ONLY this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Projector only until the dry run. Read each instruction box aloud in your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Students who freeze usually forgot the AUTO/MANUAL rule or have no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MATB opens in a new tab; come back to this tab to type the score. Expect mixed results — that is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on the whiteboard; real studies repeat until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clearly: an educational model, not measured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corridor-to-entrance rule. Project a high-scoring student's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this block first if you are running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the notes for a classroom display or teacher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big ideas from today; thank them as future space architects.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hub QR so students can explore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6D38D80F-8198-3D50-0CAB-FB287588B37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3936" b="32409"/>
          <a:stretch/>
        </p:blipFill>
        <p:spPr>
          <a:xfrm>
            <a:off x="-1" y="1"/>
            <a:ext cx="3177767" cy="4635374"/>
          </a:xfrm>
          <a:prstGeom prst="rect">
            <a:avLst/>
          </a:prstGeom>
        </p:spPr>
      </p:pic>
      <p:pic>
        <p:nvPicPr>
          <p:cNvPr id="8" name="Bild 7">
            <a:extLst>
              <a:ext uri="{FF2B5EF4-FFF2-40B4-BE49-F238E27FC236}">
                <a16:creationId xmlns:a16="http://schemas.microsoft.com/office/drawing/2014/main" id="{70792B10-D270-C2C6-5B88-13B9E3D50A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2740" r="75198" b="-1"/>
          <a:stretch/>
        </p:blipFill>
        <p:spPr>
          <a:xfrm flipH="1">
            <a:off x="9166550" y="4988459"/>
            <a:ext cx="3023858" cy="1869540"/>
          </a:xfrm>
          <a:prstGeom prst="rect">
            <a:avLst/>
          </a:prstGeom>
        </p:spPr>
      </p:pic>
      <p:pic>
        <p:nvPicPr>
          <p:cNvPr id="9" name="Logotype">
            <a:extLst>
              <a:ext uri="{FF2B5EF4-FFF2-40B4-BE49-F238E27FC236}">
                <a16:creationId xmlns:a16="http://schemas.microsoft.com/office/drawing/2014/main" id="{5CB0B686-93A0-FA00-859F-3930A6FB741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3011" y="998292"/>
            <a:ext cx="1764387" cy="1974432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191A984F-EC06-FCDC-F274-D5275A60CD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853" y="3571875"/>
            <a:ext cx="8798701" cy="1654175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Presentation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A3458D8-0B11-6CF5-7CF4-C5CA80850F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32013" y="5776913"/>
            <a:ext cx="7926387" cy="4619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Subtitle</a:t>
            </a:r>
            <a:r>
              <a:rPr lang="sv-SE" dirty="0"/>
              <a:t> </a:t>
            </a:r>
            <a:r>
              <a:rPr lang="sv-SE" dirty="0" err="1"/>
              <a:t>here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D49F56-9255-DA2A-05B7-92B1B041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9C0258-E083-684F-B81E-2491FB4EFBD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69D7AE-6EEB-EE3E-0310-ED9C3556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79EDCB6-5D2D-0312-1EF1-C34529D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54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/chapter, navy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>
            <a:extLst>
              <a:ext uri="{FF2B5EF4-FFF2-40B4-BE49-F238E27FC236}">
                <a16:creationId xmlns:a16="http://schemas.microsoft.com/office/drawing/2014/main" id="{E5884329-1698-379E-55B0-296699708B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08FF4B0F-EDDD-A22D-72B1-38F4939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4" y="2218797"/>
            <a:ext cx="721836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2F2B0C3-2BAB-6502-DD24-88356B83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4" y="5226050"/>
            <a:ext cx="7218363" cy="86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851E848-251E-E2DA-7C4F-1D009142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94E9-0885-714C-A367-BDC2DC59BB9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B17E8BE-A4A4-85C9-B892-43238732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29BC8E8-F5C8-822E-801D-9D7D1870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E3DA9A33-1CAA-3164-6E44-47421CD08E0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2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4959C9-2F76-B9B0-59E8-58FE6500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2AE670-4D80-39DE-5AAA-236D68C5E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795850"/>
            <a:ext cx="5314950" cy="45319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40C6723-9D57-3BE7-0314-142789CF9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5388" y="1795851"/>
            <a:ext cx="5314950" cy="45319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2533F65-F144-E57C-127B-9A8D7ABE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58AE-A0B6-FF4E-B30B-64917FEAC316}" type="datetime1">
              <a:rPr lang="sv-SE" smtClean="0"/>
              <a:t>2026-10-06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6C0DB15-F374-5A00-4880-4AA76C67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2539EF3-2889-FC04-31FC-8AF48EAF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70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9B9D78B8-14EA-7C8B-0F6E-5FC0A61A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C8E71948-DDFC-93D6-07D4-FA5E9923A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2">
            <a:extLst>
              <a:ext uri="{FF2B5EF4-FFF2-40B4-BE49-F238E27FC236}">
                <a16:creationId xmlns:a16="http://schemas.microsoft.com/office/drawing/2014/main" id="{A51C4AA9-7CC2-70C9-89B3-A18AC9ECAA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C714-122B-4048-9D2D-1F5A3BEA504A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685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D397E574-764C-83EF-BF38-E62B63590B0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83C6AD54-EED3-3960-39F1-6C44C49ED29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  <p:sp>
        <p:nvSpPr>
          <p:cNvPr id="14" name="Rubrik 1">
            <a:extLst>
              <a:ext uri="{FF2B5EF4-FFF2-40B4-BE49-F238E27FC236}">
                <a16:creationId xmlns:a16="http://schemas.microsoft.com/office/drawing/2014/main" id="{3B85E6DD-F8DF-4BBD-E46A-52EC6D70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13" name="Platshållare för innehåll 1">
            <a:extLst>
              <a:ext uri="{FF2B5EF4-FFF2-40B4-BE49-F238E27FC236}">
                <a16:creationId xmlns:a16="http://schemas.microsoft.com/office/drawing/2014/main" id="{DD1CE06C-E8A4-9360-B155-3B7D11D41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Rubrik 2">
            <a:extLst>
              <a:ext uri="{FF2B5EF4-FFF2-40B4-BE49-F238E27FC236}">
                <a16:creationId xmlns:a16="http://schemas.microsoft.com/office/drawing/2014/main" id="{CC32D746-BC2A-D4E0-4FDE-8026A3339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0356" y="1095632"/>
            <a:ext cx="4928392" cy="977612"/>
          </a:xfrm>
        </p:spPr>
        <p:txBody>
          <a:bodyPr tIns="108000" anchor="t">
            <a:noAutofit/>
          </a:bodyPr>
          <a:lstStyle>
            <a:lvl1pPr marL="0" indent="0">
              <a:lnSpc>
                <a:spcPct val="9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0B6CAC2E-851A-9B60-91F5-AEEA25AB75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61947" y="2281473"/>
            <a:ext cx="4928391" cy="4046300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E109-5503-A446-83DE-4F0349794E27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1567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4" y="1919288"/>
            <a:ext cx="10990263" cy="4408487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A6BD-1EFB-BD42-9DC0-F0A6BEB4C27D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6669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2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BC674729-23CB-CE55-418D-9B4DA58EC1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3800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3">
            <a:extLst>
              <a:ext uri="{FF2B5EF4-FFF2-40B4-BE49-F238E27FC236}">
                <a16:creationId xmlns:a16="http://schemas.microsoft.com/office/drawing/2014/main" id="{4E2E81CD-B9BA-4D4B-D687-9453DEF106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5388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9746E-62D8-944D-99B0-D98695592DCF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97270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3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E8F9620A-7B37-2787-0C61-0CB4A6519E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83881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1" name="Platshållare för text 3">
            <a:extLst>
              <a:ext uri="{FF2B5EF4-FFF2-40B4-BE49-F238E27FC236}">
                <a16:creationId xmlns:a16="http://schemas.microsoft.com/office/drawing/2014/main" id="{81E59C72-4325-9697-1B8F-6876044359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83881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4">
            <a:extLst>
              <a:ext uri="{FF2B5EF4-FFF2-40B4-BE49-F238E27FC236}">
                <a16:creationId xmlns:a16="http://schemas.microsoft.com/office/drawing/2014/main" id="{D890193F-9CCD-2775-F25C-FAC1CA41A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67687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04B71E10-09CE-4F1F-5969-3DD959F010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67687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03F6-2D99-9C4F-8DF5-D169CFDD1A0C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957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B2E332-9225-25D1-EB2B-62418C5D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EF1EFA3-3FDF-1336-ED61-2DEDAA6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B6B-9A86-944B-B689-8453757791D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80BEAC8-B518-E8B6-324C-4CC99EAF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36D8FE-4DB7-B3B6-8840-02A9309F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12770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B35DBFB-5CDF-E32D-0562-6D922138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DE6C-6786-8C48-9317-AF0776715ACF}" type="datetime1">
              <a:rPr lang="sv-SE" smtClean="0"/>
              <a:t>2026-10-06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757DD51-31A9-0B97-878B-DC725BE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9810C51-F518-224E-FB91-8421FD7D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4940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40.xml"/><Relationship Id="rId48" Type="http://schemas.openxmlformats.org/officeDocument/2006/relationships/theme" Target="../theme/theme1.xml"/><Relationship Id="rId4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095632"/>
            <a:ext cx="10990263" cy="56841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72344"/>
            <a:ext cx="10990263" cy="4453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0075" y="6473327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fld id="{888E4D63-BE2C-4D4B-BBD2-256262659A9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805" y="6470364"/>
            <a:ext cx="4114800" cy="97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8725" y="6473328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1" name="Bild 10">
            <a:extLst>
              <a:ext uri="{FF2B5EF4-FFF2-40B4-BE49-F238E27FC236}">
                <a16:creationId xmlns:a16="http://schemas.microsoft.com/office/drawing/2014/main" id="{57E3D58E-4C99-E6D1-B925-E182668FA2E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3566" y="164552"/>
            <a:ext cx="714243" cy="79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10"/>
    <p:sldLayoutId id="2147483650" r:id="rId12"/>
    <p:sldLayoutId id="2147483652" r:id="rId17"/>
    <p:sldLayoutId id="2147483656" r:id="rId19"/>
    <p:sldLayoutId id="2147483694" r:id="rId22"/>
    <p:sldLayoutId id="2147483676" r:id="rId28"/>
    <p:sldLayoutId id="2147483678" r:id="rId30"/>
    <p:sldLayoutId id="2147483668" r:id="rId32"/>
    <p:sldLayoutId id="2147483666" r:id="rId35"/>
    <p:sldLayoutId id="2147483655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78" userDrawn="1">
          <p15:clr>
            <a:srgbClr val="F26B43"/>
          </p15:clr>
        </p15:guide>
        <p15:guide id="4" pos="1343" userDrawn="1">
          <p15:clr>
            <a:srgbClr val="F26B43"/>
          </p15:clr>
        </p15:guide>
        <p15:guide id="5" pos="1570" userDrawn="1">
          <p15:clr>
            <a:srgbClr val="F26B43"/>
          </p15:clr>
        </p15:guide>
        <p15:guide id="6" pos="2535" userDrawn="1">
          <p15:clr>
            <a:srgbClr val="F26B43"/>
          </p15:clr>
        </p15:guide>
        <p15:guide id="7" pos="2761" userDrawn="1">
          <p15:clr>
            <a:srgbClr val="F26B43"/>
          </p15:clr>
        </p15:guide>
        <p15:guide id="8" pos="3726" userDrawn="1">
          <p15:clr>
            <a:srgbClr val="F26B43"/>
          </p15:clr>
        </p15:guide>
        <p15:guide id="9" pos="3953" userDrawn="1">
          <p15:clr>
            <a:srgbClr val="F26B43"/>
          </p15:clr>
        </p15:guide>
        <p15:guide id="10" pos="4918" userDrawn="1">
          <p15:clr>
            <a:srgbClr val="F26B43"/>
          </p15:clr>
        </p15:guide>
        <p15:guide id="11" pos="5144" userDrawn="1">
          <p15:clr>
            <a:srgbClr val="F26B43"/>
          </p15:clr>
        </p15:guide>
        <p15:guide id="12" pos="6109" userDrawn="1">
          <p15:clr>
            <a:srgbClr val="F26B43"/>
          </p15:clr>
        </p15:guide>
        <p15:guide id="13" pos="6336" userDrawn="1">
          <p15:clr>
            <a:srgbClr val="F26B43"/>
          </p15:clr>
        </p15:guide>
        <p15:guide id="14" pos="730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514" userDrawn="1">
          <p15:clr>
            <a:srgbClr val="F26B43"/>
          </p15:clr>
        </p15:guide>
        <p15:guide id="18" orient="horz" pos="861" userDrawn="1">
          <p15:clr>
            <a:srgbClr val="F26B43"/>
          </p15:clr>
        </p15:guide>
        <p15:guide id="19" orient="horz" pos="1209" userDrawn="1">
          <p15:clr>
            <a:srgbClr val="F26B43"/>
          </p15:clr>
        </p15:guide>
        <p15:guide id="20" orient="horz" pos="1570" userDrawn="1">
          <p15:clr>
            <a:srgbClr val="F26B43"/>
          </p15:clr>
        </p15:guide>
        <p15:guide id="21" orient="horz" pos="1903" userDrawn="1">
          <p15:clr>
            <a:srgbClr val="F26B43"/>
          </p15:clr>
        </p15:guide>
        <p15:guide id="22" orient="horz" pos="2250" userDrawn="1">
          <p15:clr>
            <a:srgbClr val="F26B43"/>
          </p15:clr>
        </p15:guide>
        <p15:guide id="23" orient="horz" pos="2597" userDrawn="1">
          <p15:clr>
            <a:srgbClr val="F26B43"/>
          </p15:clr>
        </p15:guide>
        <p15:guide id="24" orient="horz" pos="2945" userDrawn="1">
          <p15:clr>
            <a:srgbClr val="F26B43"/>
          </p15:clr>
        </p15:guide>
        <p15:guide id="25" orient="horz" pos="3292" userDrawn="1">
          <p15:clr>
            <a:srgbClr val="F26B43"/>
          </p15:clr>
        </p15:guide>
        <p15:guide id="26" orient="horz" pos="3639" userDrawn="1">
          <p15:clr>
            <a:srgbClr val="F26B43"/>
          </p15:clr>
        </p15:guide>
        <p15:guide id="27" orient="horz" pos="398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5.png"/><Relationship Id="rId3" Type="http://schemas.openxmlformats.org/officeDocument/2006/relationships/image" Target="../media/image26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</a:rPr>
              <a:t>The Architect's Mind in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How space-station design shapes the crew's mind — and how we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EF0FF"/>
                </a:solidFill>
              </a:rPr>
              <a:t>A classroom workshop · Orbital Architecture · KTH Royal Institute of Technology &amp; ESERO Sweden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60720"/>
            <a:ext cx="1591056" cy="640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06040" y="5687568"/>
            <a:ext cx="9144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724144"/>
            <a:ext cx="63652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space station?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/>
              <a:t>A spacecraft that stays in orbit so crews can </a:t>
            </a:r>
            <a:r>
              <a:rPr b="1" sz="1800"/>
              <a:t>live and work</a:t>
            </a:r>
            <a:r>
              <a:rPr sz="1800"/>
              <a:t> there for weeks to months</a:t>
            </a:r>
          </a:p>
          <a:p>
            <a:pPr>
              <a:spcAft>
                <a:spcPts val="1000"/>
              </a:spcAft>
            </a:pPr>
            <a:r>
              <a:rPr sz="1800"/>
              <a:t>A home </a:t>
            </a:r>
            <a:r>
              <a:rPr b="1" sz="1800"/>
              <a:t>and</a:t>
            </a:r>
            <a:r>
              <a:rPr sz="1800"/>
              <a:t> a workplace — the crew lives with the design every hour of the day</a:t>
            </a:r>
          </a:p>
          <a:p>
            <a:pPr>
              <a:spcAft>
                <a:spcPts val="1000"/>
              </a:spcAft>
            </a:pPr>
            <a:r>
              <a:rPr sz="1800"/>
              <a:t>First station crew (Salyut 1, 1971): 24 days · ISS crews today: about 6 months</a:t>
            </a:r>
          </a:p>
        </p:txBody>
      </p:sp>
      <p:pic>
        <p:nvPicPr>
          <p:cNvPr id="4" name="Picture Placeholder 3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78" r="20378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</a:rPr>
              <a:t>© NASA / SpaceX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short history of space stations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59" y="3840480"/>
            <a:ext cx="10607041" cy="0"/>
          </a:xfrm>
          <a:prstGeom prst="line">
            <a:avLst/>
          </a:prstGeom>
          <a:ln w="38100">
            <a:solidFill>
              <a:srgbClr val="0047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9611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Salyut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USSR</a:t>
            </a:r>
          </a:p>
        </p:txBody>
      </p:sp>
      <p:sp>
        <p:nvSpPr>
          <p:cNvPr id="8" name="Oval 7"/>
          <p:cNvSpPr/>
          <p:nvPr/>
        </p:nvSpPr>
        <p:spPr>
          <a:xfrm>
            <a:off x="338785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746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Skylab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746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46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USA</a:t>
            </a:r>
          </a:p>
        </p:txBody>
      </p:sp>
      <p:sp>
        <p:nvSpPr>
          <p:cNvPr id="12" name="Oval 11"/>
          <p:cNvSpPr/>
          <p:nvPr/>
        </p:nvSpPr>
        <p:spPr>
          <a:xfrm>
            <a:off x="587959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USSR / Russia</a:t>
            </a:r>
          </a:p>
        </p:txBody>
      </p:sp>
      <p:sp>
        <p:nvSpPr>
          <p:cNvPr id="16" name="Oval 15"/>
          <p:cNvSpPr/>
          <p:nvPr/>
        </p:nvSpPr>
        <p:spPr>
          <a:xfrm>
            <a:off x="837133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094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094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094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international</a:t>
            </a:r>
          </a:p>
        </p:txBody>
      </p:sp>
      <p:sp>
        <p:nvSpPr>
          <p:cNvPr id="20" name="Oval 19"/>
          <p:cNvSpPr/>
          <p:nvPr/>
        </p:nvSpPr>
        <p:spPr>
          <a:xfrm>
            <a:off x="1086307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Tiangong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China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</a:rPr>
              <a:t>Ask the class where each one was built before revealing the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Machine-centric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/>
              <a:t>Cables everywhere</a:t>
            </a:r>
          </a:p>
          <a:p>
            <a:pPr>
              <a:spcAft>
                <a:spcPts val="1000"/>
              </a:spcAft>
            </a:pPr>
            <a:r>
              <a:rPr sz="1800"/>
              <a:t>Cramped and loud</a:t>
            </a:r>
          </a:p>
          <a:p>
            <a:pPr>
              <a:spcAft>
                <a:spcPts val="1000"/>
              </a:spcAft>
            </a:pPr>
            <a:r>
              <a:rPr sz="1800"/>
              <a:t>Complex to operate</a:t>
            </a:r>
          </a:p>
          <a:p>
            <a:pPr>
              <a:spcAft>
                <a:spcPts val="1000"/>
              </a:spcAft>
            </a:pPr>
            <a:r>
              <a:rPr sz="1800"/>
              <a:t>Utilitarian interiors — equipment first, people adapt</a:t>
            </a:r>
          </a:p>
        </p:txBody>
      </p:sp>
      <p:pic>
        <p:nvPicPr>
          <p:cNvPr id="4" name="Picture Placeholder 3" descr="image45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64" r="20364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the ground to orbit</a:t>
            </a:r>
          </a:p>
        </p:txBody>
      </p:sp>
      <p:pic>
        <p:nvPicPr>
          <p:cNvPr id="3" name="Picture Placeholder 2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3106" r="1310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The ISS</a:t>
            </a:r>
            <a:r>
              <a:rPr sz="1300"/>
              <a:t> — the international laboratory where the tools you will use today have flown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l="13088" r="13088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ESA astronaut Marcus Wandt</a:t>
            </a:r>
            <a:r>
              <a:rPr sz="1300"/>
              <a:t> ran these tests in orbit on the Muninn mission (2024)</a:t>
            </a:r>
          </a:p>
        </p:txBody>
      </p:sp>
      <p:pic>
        <p:nvPicPr>
          <p:cNvPr id="7" name="Picture Placeholder 6" descr="image28.jpe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l="13089" r="13089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Mars analogue missions</a:t>
            </a:r>
            <a:r>
              <a:rPr sz="1300"/>
              <a:t> — the same tests run in the Utah desert with ISAE-SUPAERO crews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NASA / SpaceX · © ESA – M. Wandt · © ISAE-SUPAERO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state of the art today</a:t>
            </a:r>
          </a:p>
        </p:txBody>
      </p:sp>
      <p:pic>
        <p:nvPicPr>
          <p:cNvPr id="3" name="Picture Placeholder 2" descr="image32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9922" b="19922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ESA – M. Wandt · ISS interior photographed by Marcus Wandt in the Destiny laboratory — cables everywhere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</a:rPr>
              <a:t>What makes space stressful?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>
                <a:solidFill>
                  <a:srgbClr val="DEF0FF"/>
                </a:solidFill>
              </a:rPr>
              <a:t>Space first · then school and home · then: what helps you relax?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cognitive link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619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000061"/>
                </a:solidFill>
              </a:rPr>
              <a:t>Environment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000061"/>
                </a:solidFill>
              </a:rPr>
              <a:t>noise · light · clutter · greenery · 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67912" y="3337560"/>
            <a:ext cx="676656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1772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</a:rPr>
              <a:t>Stress &amp; recovery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</a:rPr>
              <a:t>how the body and mind react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62672" y="3337560"/>
            <a:ext cx="676655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</a:rPr>
              <a:t>Cognition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</a:rPr>
              <a:t>attention · memory ·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555F6B"/>
                </a:solidFill>
              </a:rPr>
              <a:t>Examples from the board: a noisy cabin raises stress and lowers attention; a view of Earth, plants and good light help you recover.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habitats need evidence, not guesswork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Opinions differ — measurements settle it. That is why we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crews live in today</a:t>
            </a:r>
          </a:p>
        </p:txBody>
      </p:sp>
      <p:pic>
        <p:nvPicPr>
          <p:cNvPr id="3" name="Picture Placeholder 2" descr="image46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364" b="636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The Cupola</a:t>
            </a:r>
            <a:r>
              <a:rPr sz="1400"/>
              <a:t> — the only window with a real view of Earth</a:t>
            </a:r>
          </a:p>
        </p:txBody>
      </p:sp>
      <p:pic>
        <p:nvPicPr>
          <p:cNvPr id="5" name="Picture Placeholder 4" descr="image47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28177" b="28177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Crew sleeping quarters</a:t>
            </a:r>
            <a:r>
              <a:rPr sz="1400"/>
              <a:t> — a phone-booth-sized private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vision</a:t>
            </a:r>
          </a:p>
        </p:txBody>
      </p:sp>
      <p:pic>
        <p:nvPicPr>
          <p:cNvPr id="3" name="Picture Placeholder 2" descr="image37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23005" b="23005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NASA – Rick Guidice, NASA Ames Research Center · Rotating habitats with greenery and windows — concept art from the 1970s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 steps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D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Small quantitative experiments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measure one thing at a time: noise, light, clutter…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15000" y="3657600"/>
            <a:ext cx="822960" cy="0"/>
          </a:xfrm>
          <a:prstGeom prst="line">
            <a:avLst/>
          </a:prstGeom>
          <a:ln w="508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67512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FFFFFF"/>
                </a:solidFill>
              </a:rPr>
              <a:t>Qualitative change over time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FFFFFF"/>
                </a:solidFill>
              </a:rPr>
              <a:t>better-designed stations, happier and sharper crews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</a:rPr>
              <a:t>We are taking those steps now — and today, so are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test cognition</a:t>
            </a:r>
          </a:p>
        </p:txBody>
      </p:sp>
      <p:pic>
        <p:nvPicPr>
          <p:cNvPr id="3" name="Picture Placeholder 2" descr="image48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6653" r="665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Reaction Time (PVT-style)</a:t>
            </a:r>
            <a:r>
              <a:rPr sz="1300"/>
              <a:t> — alertness · everyone, as a warm-up</a:t>
            </a:r>
          </a:p>
        </p:txBody>
      </p:sp>
      <p:pic>
        <p:nvPicPr>
          <p:cNvPr id="5" name="Picture Placeholder 4" descr="image52.pn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7126" b="7126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N-Back</a:t>
            </a:r>
            <a:r>
              <a:rPr sz="1300"/>
              <a:t> — working memory · ages 16–18</a:t>
            </a:r>
          </a:p>
        </p:txBody>
      </p:sp>
      <p:pic>
        <p:nvPicPr>
          <p:cNvPr id="7" name="Picture Placeholder 6" descr="matb-run.pn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l="15403" r="15403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MATB</a:t>
            </a:r>
            <a:r>
              <a:rPr sz="1300"/>
              <a:t> — executive function · ages 14–15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</a:rPr>
              <a:t>“How does your math teacher know if you're good at math?” →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research runs</a:t>
            </a:r>
          </a:p>
        </p:txBody>
      </p:sp>
      <p:pic>
        <p:nvPicPr>
          <p:cNvPr id="3" name="Picture Placeholder 2" descr="image41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1185" b="1118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MDRS, Utah</a:t>
            </a:r>
            <a:r>
              <a:rPr sz="1400"/>
              <a:t> — Mars Desert Research Station with ISAE-SUPAERO crews (MDRS 275, 293, 311, 330)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6364" b="6364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The ISS</a:t>
            </a:r>
            <a:r>
              <a:rPr sz="1400"/>
              <a:t> — Marcus Wandt, ESA Muninn mission,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ISAE-SUPAERO · © ESA – M. Wandt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 Time — one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Tap the screen (or press SPACE) as fast as you can when the red dot appears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One round · 8 dots · about a minute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Everyone is different — confounders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0061"/>
                </a:solidFill>
              </a:rPr>
              <a:t>You vs. you</a:t>
            </a:r>
            <a:r>
              <a:rPr sz="1800">
                <a:solidFill>
                  <a:srgbClr val="000061"/>
                </a:solidFill>
              </a:rPr>
              <a:t>: the Condition Lab later compares you with yourself, as a % of your own score</a:t>
            </a:r>
          </a:p>
        </p:txBody>
      </p:sp>
      <p:pic>
        <p:nvPicPr>
          <p:cNvPr id="4" name="Picture 3" descr="reaction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ction-default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/reaction-default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magkosm.github.io/orbarch-edu/reaction-default?lng=en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Start screen. Write your average and fastest time on the handout.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MATB — four tasks at once (teacher demo)</a:t>
            </a:r>
          </a:p>
        </p:txBody>
      </p:sp>
      <p:pic>
        <p:nvPicPr>
          <p:cNvPr id="3" name="Picture 2" descr="training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712463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System Monitoring</a:t>
            </a:r>
            <a:r>
              <a:rPr sz="1300">
                <a:solidFill>
                  <a:srgbClr val="000061"/>
                </a:solidFill>
              </a:rPr>
              <a:t> — tap the light or gauge that goes wrong</a:t>
            </a:r>
          </a:p>
        </p:txBody>
      </p:sp>
      <p:pic>
        <p:nvPicPr>
          <p:cNvPr id="5" name="Picture 4" descr="training-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381744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Tracking</a:t>
            </a:r>
            <a:r>
              <a:rPr sz="1300">
                <a:solidFill>
                  <a:srgbClr val="000061"/>
                </a:solidFill>
              </a:rPr>
              <a:t> — keep the cursor in the square when it says MANUAL</a:t>
            </a:r>
          </a:p>
        </p:txBody>
      </p:sp>
      <p:pic>
        <p:nvPicPr>
          <p:cNvPr id="7" name="Picture 6" descr="training-com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712463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Communications</a:t>
            </a:r>
            <a:r>
              <a:rPr sz="1300">
                <a:solidFill>
                  <a:srgbClr val="000061"/>
                </a:solidFill>
              </a:rPr>
              <a:t> — answer only calls for your own callsign</a:t>
            </a:r>
          </a:p>
        </p:txBody>
      </p:sp>
      <p:pic>
        <p:nvPicPr>
          <p:cNvPr id="9" name="Picture 8" descr="training-re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81744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Resource Management</a:t>
            </a:r>
            <a:r>
              <a:rPr sz="1300">
                <a:solidFill>
                  <a:srgbClr val="000061"/>
                </a:solidFill>
              </a:rPr>
              <a:t> — keep tanks A and B at their target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Presets → Training modes: one task at a time on the projector. No student QR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MATB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Everyone: one practice run (2 minutes)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Don't quit — let the time run out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At the end: read the </a:t>
            </a:r>
            <a:r>
              <a:rPr b="1" sz="1800">
                <a:solidFill>
                  <a:srgbClr val="000061"/>
                </a:solidFill>
              </a:rPr>
              <a:t>Final Score</a:t>
            </a:r>
            <a:r>
              <a:rPr sz="1800">
                <a:solidFill>
                  <a:srgbClr val="000061"/>
                </a:solidFill>
              </a:rPr>
              <a:t> at the top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If a box asks for a name: tap </a:t>
            </a:r>
            <a:r>
              <a:rPr b="1" sz="1800">
                <a:solidFill>
                  <a:srgbClr val="000061"/>
                </a:solidFill>
              </a:rPr>
              <a:t>Skip</a:t>
            </a:r>
            <a:r>
              <a:rPr sz="1800">
                <a:solidFill>
                  <a:srgbClr val="000061"/>
                </a:solidFill>
              </a:rPr>
              <a:t> — no real names</a:t>
            </a:r>
          </a:p>
        </p:txBody>
      </p:sp>
      <p:pic>
        <p:nvPicPr>
          <p:cNvPr id="4" name="Picture 3" descr="matb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b-2min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/2min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magkosm.github.io/orbarch-edu/2min?lng=en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End screen: Final Score at the top; the high-score box can be skipped.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 Lab — quiet vs.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① Quiet run — all together, speakers off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② Cabin-noise run — all together, speakers 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Type both scores into the Condition Lab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Read the </a:t>
            </a:r>
            <a:r>
              <a:rPr b="1" sz="1800">
                <a:solidFill>
                  <a:srgbClr val="000061"/>
                </a:solidFill>
              </a:rPr>
              <a:t>% change</a:t>
            </a:r>
            <a:r>
              <a:rPr sz="1800">
                <a:solidFill>
                  <a:srgbClr val="000061"/>
                </a:solidFill>
              </a:rPr>
              <a:t> and copy it to the handout</a:t>
            </a:r>
          </a:p>
        </p:txBody>
      </p:sp>
      <p:pic>
        <p:nvPicPr>
          <p:cNvPr id="4" name="Picture 3" descr="condition-lab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dition-lab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/condition-lab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magkosm.github.io/orbarch-edu/condition-lab?lng=en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Both scores entered: the comparison and the % change appear.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and plateau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3504" y="182880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3749039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Like a new sport: you improve fast, then you reach a </a:t>
            </a:r>
            <a:r>
              <a:rPr b="1" sz="1600">
                <a:solidFill>
                  <a:srgbClr val="000061"/>
                </a:solidFill>
              </a:rPr>
              <a:t>plateau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Daily swings remain — sleep, mood, food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Real studies repeat until scores are stable, </a:t>
            </a:r>
            <a:r>
              <a:rPr b="1" sz="1600">
                <a:solidFill>
                  <a:srgbClr val="000061"/>
                </a:solidFill>
              </a:rPr>
              <a:t>then</a:t>
            </a:r>
            <a:r>
              <a:rPr sz="1600">
                <a:solidFill>
                  <a:srgbClr val="000061"/>
                </a:solidFill>
              </a:rPr>
              <a:t> test conditions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Today is a taste of that protocol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An illustrative model inspired by research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Sliders: noise · light · clutter · biophilia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Watch attention, working memory and stress move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Find the best and the worst cabin</a:t>
            </a:r>
          </a:p>
        </p:txBody>
      </p:sp>
      <p:pic>
        <p:nvPicPr>
          <p:cNvPr id="4" name="Picture 3" descr="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ulator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magkosm.github.io/orbarch-edu/simulator?lng=en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Drag the sliders; the bars update live.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Blueprint Designer — mission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Design a station module on the grid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Crew cognition </a:t>
            </a:r>
            <a:r>
              <a:rPr b="1" sz="1600">
                <a:solidFill>
                  <a:srgbClr val="000061"/>
                </a:solidFill>
              </a:rPr>
              <a:t>vs.</a:t>
            </a:r>
            <a:r>
              <a:rPr sz="1600">
                <a:solidFill>
                  <a:srgbClr val="000061"/>
                </a:solidFill>
              </a:rPr>
              <a:t> science and engineering — every item is a trade-off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Every module needs a free corridor to the </a:t>
            </a:r>
            <a:r>
              <a:rPr b="1" sz="1600">
                <a:solidFill>
                  <a:srgbClr val="000061"/>
                </a:solidFill>
              </a:rPr>
              <a:t>entrance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Target: </a:t>
            </a:r>
            <a:r>
              <a:rPr b="1" sz="1600">
                <a:solidFill>
                  <a:srgbClr val="000061"/>
                </a:solidFill>
              </a:rPr>
              <a:t>Mission Success ≥ 70</a:t>
            </a:r>
          </a:p>
        </p:txBody>
      </p:sp>
      <p:pic>
        <p:nvPicPr>
          <p:cNvPr id="4" name="Picture 3" descr="blueprint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print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magkosm.github.io/orbarch-edu/blueprint?lng=en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Load scenario gives a starting layout; the brief checklist turns green as you 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Lab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Build your own simulator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Add inputs and outcomes from the whiteboard list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Green wires help, red wires hurt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If this outcome matters, what should we design for?</a:t>
            </a:r>
          </a:p>
        </p:txBody>
      </p:sp>
      <p:pic>
        <p:nvPicPr>
          <p:cNvPr id="4" name="Picture 3" descr="model-lab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-lab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Scan to open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/model-lab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magkosm.github.io/orbarch-edu/model-lab?lng=en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The interaction map shows every link in the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783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</a:rPr>
              <a:t>Two sticky notes per student — write your name on each.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1463040" y="2468880"/>
            <a:ext cx="4114800" cy="3291840"/>
          </a:xfrm>
          <a:prstGeom prst="rect">
            <a:avLst/>
          </a:prstGeom>
          <a:solidFill>
            <a:srgbClr val="FFE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① Helps cognition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something in the architecture that helps the crew's mind</a:t>
            </a:r>
          </a:p>
        </p:txBody>
      </p:sp>
      <p:sp>
        <p:nvSpPr>
          <p:cNvPr id="5" name="Rectangle 4"/>
          <p:cNvSpPr/>
          <p:nvPr/>
        </p:nvSpPr>
        <p:spPr>
          <a:xfrm rot="120000">
            <a:off x="6583679" y="2468880"/>
            <a:ext cx="4114800" cy="3291840"/>
          </a:xfrm>
          <a:prstGeom prst="rect">
            <a:avLst/>
          </a:prstGeom>
          <a:solidFill>
            <a:srgbClr val="FF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② Hurts cognition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something in the architecture that hurts 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7373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</a:rPr>
              <a:t>Four things to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3383280"/>
            <a:ext cx="1051560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Space is for everyone.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Architecture is about people.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Design is a series of trade-offs.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You are the future of space exploration.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400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magkosm.github.io/orbarch-edu</a:t>
            </a:r>
          </a:p>
          <a:p>
            <a:pPr>
              <a:spcAft>
                <a:spcPts val="600"/>
              </a:spcAft>
            </a:pPr>
            <a:r>
              <a:rPr sz="1800"/>
              <a:t>Orbital Architecture · KTH Royal Institute of Technology · ESERO Sweden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7373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ub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92024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4526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Open the app at home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5257800"/>
            <a:ext cx="1477409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98480" y="5184648"/>
            <a:ext cx="822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5221224"/>
            <a:ext cx="587559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 PPT template 251203.potx" id="{B9D87BD4-659E-40F0-9595-7EDEBA7F7B08}" vid="{8372EC08-571E-42EA-AAF5-CEC4489AF2D9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4789026152694A8ADBFB64A3DEF8D3" ma:contentTypeVersion="4" ma:contentTypeDescription="Create a new document." ma:contentTypeScope="" ma:versionID="3af6c6ad297b0e32a0e04aa7b03d11e4">
  <xsd:schema xmlns:xsd="http://www.w3.org/2001/XMLSchema" xmlns:xs="http://www.w3.org/2001/XMLSchema" xmlns:p="http://schemas.microsoft.com/office/2006/metadata/properties" xmlns:ns2="4115e1da-3f65-45a4-b4c2-0bec33cf021f" xmlns:ns3="5cba28c0-a866-4240-81c2-3ce50963478d" targetNamespace="http://schemas.microsoft.com/office/2006/metadata/properties" ma:root="true" ma:fieldsID="3968f54b15f0209a2e5295d050fc54a9" ns2:_="" ns3:_="">
    <xsd:import namespace="4115e1da-3f65-45a4-b4c2-0bec33cf021f"/>
    <xsd:import namespace="5cba28c0-a866-4240-81c2-3ce5096347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15e1da-3f65-45a4-b4c2-0bec33cf021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a28c0-a866-4240-81c2-3ce5096347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115e1da-3f65-45a4-b4c2-0bec33cf021f">3NPU4AMNSMUR-960428013-26</_dlc_DocId>
    <_dlc_DocIdUrl xmlns="4115e1da-3f65-45a4-b4c2-0bec33cf021f">
      <Url>https://kth.sharepoint.com/sites/kth_assets/_layouts/15/DocIdRedir.aspx?ID=3NPU4AMNSMUR-960428013-26</Url>
      <Description>3NPU4AMNSMUR-960428013-26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B0C768-CFA7-4176-850A-22F4B13BA47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783458C-019C-4AF0-A24B-F9802396A7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15e1da-3f65-45a4-b4c2-0bec33cf021f"/>
    <ds:schemaRef ds:uri="5cba28c0-a866-4240-81c2-3ce5096347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00A54A-E32A-4A07-A193-E8AE92B10479}">
  <ds:schemaRefs>
    <ds:schemaRef ds:uri="http://schemas.microsoft.com/office/2006/metadata/properties"/>
    <ds:schemaRef ds:uri="http://schemas.microsoft.com/office/infopath/2007/PartnerControls"/>
    <ds:schemaRef ds:uri="4115e1da-3f65-45a4-b4c2-0bec33cf021f"/>
  </ds:schemaRefs>
</ds:datastoreItem>
</file>

<file path=customXml/itemProps4.xml><?xml version="1.0" encoding="utf-8"?>
<ds:datastoreItem xmlns:ds="http://schemas.openxmlformats.org/officeDocument/2006/customXml" ds:itemID="{AE4A7C1A-8C6A-4724-9851-61214B1837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0</TotalTime>
  <Words>0</Words>
  <Application>Microsoft Macintosh PowerPoint</Application>
  <PresentationFormat>Widescreen</PresentationFormat>
  <Paragraphs>0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Figtree</vt:lpstr>
      <vt:lpstr>Arial</vt:lpstr>
      <vt:lpstr>Calibri</vt:lpstr>
      <vt:lpstr>Office-tema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Michail Magkos</dc:creator>
  <cp:lastModifiedBy>Michail Magkos</cp:lastModifiedBy>
  <cp:revision>1</cp:revision>
  <dcterms:created xsi:type="dcterms:W3CDTF">2026-10-06T10:54:02Z</dcterms:created>
  <dcterms:modified xsi:type="dcterms:W3CDTF">2026-10-06T10:54:10Z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0x010100454789026152694A8ADBFB64A3DEF8D3</vt:lpwstr>
  </property>
  <property fmtid="{D5CDD505-2E9C-101B-9397-08002B2CF9AE}" pid="3" name="_dlc_DocIdItemGuid">
    <vt:lpwstr>727452b2-8c07-49fa-9c22-9c1873a3a1f2</vt:lpwstr>
  </property>
</Properties>
</file>