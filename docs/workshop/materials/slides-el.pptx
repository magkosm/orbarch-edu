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customXml/itemProps4.xml" ContentType="application/vnd.openxmlformats-officedocument.customXmlPropertie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harts/chart1.xml" ContentType="application/vnd.openxmlformats-officedocument.drawingml.chart+xml"/>
  <Override PartName="/ppt/media/image1.svg" ContentType="image/svg+xml"/>
  <Override PartName="/ppt/media/image2.svg" ContentType="image/svg+xml"/>
  <Override PartName="/ppt/media/image3.svg" ContentType="image/svg+xml"/>
  <Override PartName="/ppt/media/image4.svg" ContentType="image/svg+xml"/>
  <Override PartName="/ppt/media/image9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autoCompressPictures="0">
  <p:sldMasterIdLst>
    <p:sldMasterId id="2147483648" r:id="rId5"/>
  </p:sldMasterIdLst>
  <p:notesMasterIdLst>
    <p:notesMasterId r:id="rId9"/>
  </p:notesMasterIdLst>
  <p:sldIdLst>
    <p:sldId id="256" r:id="rId8"/>
    <p:sldId id="257" r:id="rId7"/>
    <p:sldId id="258" r:id="rId6"/>
    <p:sldId id="259" r:id="rId18"/>
    <p:sldId id="260" r:id="rId19"/>
    <p:sldId id="261" r:id="rId20"/>
    <p:sldId id="262" r:id="rId21"/>
    <p:sldId id="263" r:id="rId22"/>
    <p:sldId id="264" r:id="rId23"/>
    <p:sldId id="265" r:id="rId24"/>
    <p:sldId id="266" r:id="rId25"/>
    <p:sldId id="267" r:id="rId26"/>
    <p:sldId id="268" r:id="rId27"/>
    <p:sldId id="269" r:id="rId28"/>
    <p:sldId id="270" r:id="rId29"/>
    <p:sldId id="271" r:id="rId30"/>
    <p:sldId id="272" r:id="rId31"/>
    <p:sldId id="273" r:id="rId32"/>
    <p:sldId id="274" r:id="rId33"/>
    <p:sldId id="275" r:id="rId34"/>
    <p:sldId id="276" r:id="rId35"/>
    <p:sldId id="277" r:id="rId36"/>
    <p:sldId id="278" r:id="rId37"/>
    <p:sldId id="279" r:id="rId38"/>
    <p:sldId id="280" r:id="rId39"/>
  </p:sldIdLst>
  <p:sldSz cx="12192000" cy="6858000"/>
  <p:notesSz cx="6858000" cy="9144000"/>
  <p:embeddedFontLst>
    <p:embeddedFont>
      <p:font typeface="Figtree"/>
      <p:regular r:id="rId10"/>
      <p:bold r:id="rId11"/>
      <p:italic r:id="rId12"/>
      <p:boldItalic r:id="rId13"/>
    </p:embeddedFont>
  </p:embeddedFontLst>
  <p:defaultTextStyle>
    <a:defPPr>
      <a:defRPr lang="sv-S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969" autoAdjust="0"/>
    <p:restoredTop sz="96327"/>
  </p:normalViewPr>
  <p:slideViewPr>
    <p:cSldViewPr snapToGrid="0">
      <p:cViewPr varScale="1">
        <p:scale>
          <a:sx n="127" d="100"/>
          <a:sy n="127" d="100"/>
        </p:scale>
        <p:origin x="256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customXml" Target="../customXml/item4.xml"/><Relationship Id="rId5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7" Type="http://schemas.openxmlformats.org/officeDocument/2006/relationships/slide" Target="slides/slide2.xml"/><Relationship Id="rId8" Type="http://schemas.openxmlformats.org/officeDocument/2006/relationships/slide" Target="slides/slide1.xml"/><Relationship Id="rId9" Type="http://schemas.openxmlformats.org/officeDocument/2006/relationships/notesMaster" Target="notesMasters/notesMaster1.xml"/><Relationship Id="rId10" Type="http://schemas.openxmlformats.org/officeDocument/2006/relationships/font" Target="fonts/font1.fntdata"/><Relationship Id="rId11" Type="http://schemas.openxmlformats.org/officeDocument/2006/relationships/font" Target="fonts/font2.fntdata"/><Relationship Id="rId12" Type="http://schemas.openxmlformats.org/officeDocument/2006/relationships/font" Target="fonts/font3.fntdata"/><Relationship Id="rId13" Type="http://schemas.openxmlformats.org/officeDocument/2006/relationships/font" Target="fonts/font4.fntdata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Relationship Id="rId18" Type="http://schemas.openxmlformats.org/officeDocument/2006/relationships/slide" Target="slides/slide4.xml"/><Relationship Id="rId19" Type="http://schemas.openxmlformats.org/officeDocument/2006/relationships/slide" Target="slides/slide5.xml"/><Relationship Id="rId20" Type="http://schemas.openxmlformats.org/officeDocument/2006/relationships/slide" Target="slides/slide6.xml"/><Relationship Id="rId21" Type="http://schemas.openxmlformats.org/officeDocument/2006/relationships/slide" Target="slides/slide7.xml"/><Relationship Id="rId22" Type="http://schemas.openxmlformats.org/officeDocument/2006/relationships/slide" Target="slides/slide8.xml"/><Relationship Id="rId23" Type="http://schemas.openxmlformats.org/officeDocument/2006/relationships/slide" Target="slides/slide9.xml"/><Relationship Id="rId24" Type="http://schemas.openxmlformats.org/officeDocument/2006/relationships/slide" Target="slides/slide10.xml"/><Relationship Id="rId25" Type="http://schemas.openxmlformats.org/officeDocument/2006/relationships/slide" Target="slides/slide11.xml"/><Relationship Id="rId26" Type="http://schemas.openxmlformats.org/officeDocument/2006/relationships/slide" Target="slides/slide12.xml"/><Relationship Id="rId27" Type="http://schemas.openxmlformats.org/officeDocument/2006/relationships/slide" Target="slides/slide13.xml"/><Relationship Id="rId28" Type="http://schemas.openxmlformats.org/officeDocument/2006/relationships/slide" Target="slides/slide14.xml"/><Relationship Id="rId29" Type="http://schemas.openxmlformats.org/officeDocument/2006/relationships/slide" Target="slides/slide15.xml"/><Relationship Id="rId30" Type="http://schemas.openxmlformats.org/officeDocument/2006/relationships/slide" Target="slides/slide16.xml"/><Relationship Id="rId31" Type="http://schemas.openxmlformats.org/officeDocument/2006/relationships/slide" Target="slides/slide17.xml"/><Relationship Id="rId32" Type="http://schemas.openxmlformats.org/officeDocument/2006/relationships/slide" Target="slides/slide18.xml"/><Relationship Id="rId33" Type="http://schemas.openxmlformats.org/officeDocument/2006/relationships/slide" Target="slides/slide19.xml"/><Relationship Id="rId34" Type="http://schemas.openxmlformats.org/officeDocument/2006/relationships/slide" Target="slides/slide20.xml"/><Relationship Id="rId35" Type="http://schemas.openxmlformats.org/officeDocument/2006/relationships/slide" Target="slides/slide21.xml"/><Relationship Id="rId36" Type="http://schemas.openxmlformats.org/officeDocument/2006/relationships/slide" Target="slides/slide22.xml"/><Relationship Id="rId37" Type="http://schemas.openxmlformats.org/officeDocument/2006/relationships/slide" Target="slides/slide23.xml"/><Relationship Id="rId38" Type="http://schemas.openxmlformats.org/officeDocument/2006/relationships/slide" Target="slides/slide24.xml"/><Relationship Id="rId39" Type="http://schemas.openxmlformats.org/officeDocument/2006/relationships/slide" Target="slides/slide25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Βαθμολογία</c:v>
                </c:pt>
              </c:strCache>
            </c:strRef>
          </c:tx>
          <c:spPr>
            <a:ln w="31750">
              <a:solidFill>
                <a:srgbClr val="004791"/>
              </a:solidFill>
            </a:ln>
          </c:spPr>
          <c:cat>
            <c:strRef>
              <c:f>Sheet1!$A$2:$A$11</c:f>
              <c:strCache>
                <c:ptCount val="10"/>
                <c:pt idx="0">
                  <c:v>Γύρος 1</c:v>
                </c:pt>
                <c:pt idx="1">
                  <c:v>Γύρος 2</c:v>
                </c:pt>
                <c:pt idx="2">
                  <c:v>Γύρος 3</c:v>
                </c:pt>
                <c:pt idx="3">
                  <c:v>Γύρος 4</c:v>
                </c:pt>
                <c:pt idx="4">
                  <c:v>Γύρος 5</c:v>
                </c:pt>
                <c:pt idx="5">
                  <c:v>Γύρος 6</c:v>
                </c:pt>
                <c:pt idx="6">
                  <c:v>Γύρος 7</c:v>
                </c:pt>
                <c:pt idx="7">
                  <c:v>Γύρος 8</c:v>
                </c:pt>
                <c:pt idx="8">
                  <c:v>Γύρος 9</c:v>
                </c:pt>
                <c:pt idx="9">
                  <c:v>Γύρος 10</c:v>
                </c:pt>
              </c:strCache>
            </c: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52</c:v>
                </c:pt>
                <c:pt idx="1">
                  <c:v>61</c:v>
                </c:pt>
                <c:pt idx="2">
                  <c:v>68</c:v>
                </c:pt>
                <c:pt idx="3">
                  <c:v>73</c:v>
                </c:pt>
                <c:pt idx="4">
                  <c:v>76</c:v>
                </c:pt>
                <c:pt idx="5">
                  <c:v>75</c:v>
                </c:pt>
                <c:pt idx="6">
                  <c:v>78</c:v>
                </c:pt>
                <c:pt idx="7">
                  <c:v>76</c:v>
                </c:pt>
                <c:pt idx="8">
                  <c:v>77</c:v>
                </c:pt>
                <c:pt idx="9">
                  <c:v>76</c:v>
                </c:pt>
              </c:numCache>
            </c:numRef>
          </c:val>
          <c:smooth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B0B8C4"/>
            </a:solidFill>
          </a:ln>
        </c:spPr>
        <c:txPr>
          <a:bodyPr/>
          <a:lstStyle/>
          <a:p>
            <a:pPr>
              <a:defRPr sz="1100">
                <a:solidFill>
                  <a:srgbClr val="555F6B"/>
                </a:solidFill>
              </a:defRPr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>
          <c:max val="90.0"/>
          <c:min val="40.0"/>
        </c:scaling>
        <c:delete val="0"/>
        <c:axPos val="l"/>
        <c:majorGridlines>
          <c:spPr>
            <a:ln>
              <a:solidFill>
                <a:srgbClr val="D9DEE5"/>
              </a:solidFill>
            </a:ln>
          </c:spPr>
        </c:majorGridlines>
        <c:title>
          <c:tx>
            <c:rich>
              <a:bodyPr/>
              <a:lstStyle/>
              <a:p>
                <a:r>
                  <a:rPr sz="1100"/>
                  <a:t>Απόδοση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100">
                <a:solidFill>
                  <a:srgbClr val="555F6B"/>
                </a:solidFill>
              </a:defRPr>
            </a:pPr>
          </a:p>
        </c:txPr>
        <c:crossAx val="2118791784"/>
        <c:crosses val="autoZero"/>
      </c:valAx>
    </c:plotArea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tshållare för sidhuvud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sv-SE"/>
          </a:p>
        </p:txBody>
      </p:sp>
      <p:sp>
        <p:nvSpPr>
          <p:cNvPr id="3" name="Platshållare för datum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1BACA97-DCC5-D741-8303-D68B06D997A0}" type="datetimeFigureOut">
              <a:rPr lang="sv-SE" smtClean="0"/>
              <a:t>2026-10-06</a:t>
            </a:fld>
            <a:endParaRPr lang="sv-SE"/>
          </a:p>
        </p:txBody>
      </p:sp>
      <p:sp>
        <p:nvSpPr>
          <p:cNvPr id="4" name="Platshållare för bildobjekt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sv-SE"/>
          </a:p>
        </p:txBody>
      </p:sp>
      <p:sp>
        <p:nvSpPr>
          <p:cNvPr id="5" name="Platshållare för anteckninga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sv-SE"/>
              <a:t>Klicka här för att ändra format på bakgrundstexten</a:t>
            </a:r>
          </a:p>
          <a:p>
            <a:pPr lvl="1"/>
            <a:r>
              <a:rPr lang="sv-SE"/>
              <a:t>Nivå två</a:t>
            </a:r>
          </a:p>
          <a:p>
            <a:pPr lvl="2"/>
            <a:r>
              <a:rPr lang="sv-SE"/>
              <a:t>Nivå tre</a:t>
            </a:r>
          </a:p>
          <a:p>
            <a:pPr lvl="3"/>
            <a:r>
              <a:rPr lang="sv-SE"/>
              <a:t>Nivå fyra</a:t>
            </a:r>
          </a:p>
          <a:p>
            <a:pPr lvl="4"/>
            <a:r>
              <a:rPr lang="sv-SE"/>
              <a:t>Nivå fem</a:t>
            </a:r>
          </a:p>
        </p:txBody>
      </p:sp>
      <p:sp>
        <p:nvSpPr>
          <p:cNvPr id="6" name="Platshållare för sidfot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sv-SE"/>
          </a:p>
        </p:txBody>
      </p:sp>
      <p:sp>
        <p:nvSpPr>
          <p:cNvPr id="7" name="Platshållare för bildnumm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9702129-24FE-4746-9897-C7E55345F5DD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406170099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Παρουσιάστε τον ομιλητή. Σήμερα: πώς ο σχεδιασμός του σταθμού διαμορφώνει το μυαλό του πληρώματος.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Όχι σύντομη επίσκεψη· τα πληρώματα ζουν με τον σχεδιασμό κάθε ώρα. Πρώτο πλήρωμα σταθμού (Salyut 1, 1971): 24 ημέρες· πληρώματα του ISS: ~6 μήνες.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Ακατάστατη, μηχανοκεντρική εξέλιξη — πρώτα ο εξοπλισμός, οι άνθρωποι προσαρμόζονται.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Το μοτίβο επαναλαμβάνεται εδώ και δεκαετίες.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Ο Γκολέμης ήταν ιατρός πτήσης της αποστολής· ο Wandt έτρεξε το πείραμα Orbital Architecture στον σταθμό κατά την αποστολή Muninn.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Σχεδόν το καλύτερο που έχουμε τώρα — ακαταστασία, θόρυβος, κακός φωτισμός, στενότητα.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Ανοιχτή συζήτηση → πίνακας: διάστημα, μετά σχολείο/σπίτι, μετά τι σας βοηθά να χαλαρώσετε. Ο πίνακας μένει όλη την ώρα.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Οδηγήστε τους μαθητές να ονομάσουν τα τρία στοιχεία της σύνδεσης πριν δείξετε τη διαφάνεια.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Συνδέστε το με τη λίστα του πίνακα.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Εμπνέει — αλλά ίσως αιώνες μακριά (προσωπική εκτίμηση του ομιλητή).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Εμείς κάνουμε αυτά τα βήματα τώρα.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Κάντε πρώτα την ερώτηση στην τάξη. Τρεις δοκιμασίες, τρεις γνωστικές λειτουργίες.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Δώστε τον κωδικό QR όταν είστε έτοιμοι. Δείξτε ΜΟΝΟ αυτόν τον κωδικό QR.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Μόνο στον προβολέα μέχρι τη δοκιμαστική εκτέλεση. Διαβάστε κάθε πλαίσιο οδηγιών δυνατά με δικά σας λόγια.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Κυκλοφορήστε στην αίθουσα. Όσοι μαθητές κολλάνε συνήθως ξέχασαν τον κανόνα ΑΥΤΟΜΑΤΟ/ΧΕΙΡΟΚΙΝΗΤΟ ή δεν έχουν ήχο.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Το MATB ανοίγει σε νέα καρτέλα· γυρίστε σε αυτή την καρτέλα για να πληκτρολογήσετε τη βαθμολογία. Περιμένετε ανάμεικτα αποτελέσματα — αυτή είναι η συζήτηση.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Σχεδιάστε το στον πίνακα· οι πραγματικές μελέτες επαναλαμβάνουν μέχρι να σταθεροποιηθεί.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Πείτε καθαρά: εκπαιδευτικό μοντέλο, όχι μετρημένα δεδομένα.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Επαναλάβετε τον κανόνα του διαδρόμου προς την είσοδο. Προβάλετε τη διάταξη ενός μαθητή με υψηλή βαθμολογία.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Κόψτε πρώτο αυτό το μπλοκ αν πιέζει ο χρόνος.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Συλλέξτε τα χαρτάκια για έκθεση στην τάξη ή για δική σας ανασκόπηση.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Κλείστε με τις μεγάλες ιδέες της ημέρας· ευχαριστήστε τους ως μελλοντικούς διαστημικούς αρχιτέκτονες.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Δείξτε τον κωδικό QR του κόμβου για να εξερευνήσουν οι μαθητές στο σπίτι.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svg"/><Relationship Id="rId3" Type="http://schemas.openxmlformats.org/officeDocument/2006/relationships/image" Target="../media/image3.svg"/><Relationship Id="rId4" Type="http://schemas.openxmlformats.org/officeDocument/2006/relationships/image" Target="../media/image4.svg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svg"/><Relationship Id="rId3" Type="http://schemas.openxmlformats.org/officeDocument/2006/relationships/image" Target="../media/image4.svg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svg"/></Relationships>
</file>

<file path=ppt/slideLayouts/_rels/slideLayout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, KTH blu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Bild 6">
            <a:extLst>
              <a:ext uri="{FF2B5EF4-FFF2-40B4-BE49-F238E27FC236}">
                <a16:creationId xmlns:a16="http://schemas.microsoft.com/office/drawing/2014/main" id="{6D38D80F-8198-3D50-0CAB-FB287588B37C}"/>
              </a:ext>
            </a:extLst>
          </p:cNvPr>
          <p:cNvPicPr>
            <a:picLocks noChangeAspect="1"/>
          </p:cNvPicPr>
          <p:nvPr userDrawn="1"/>
        </p:nvPicPr>
        <p:blipFill rotWithShape="1">
          <a:blip cstate="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 r="73936" b="32409"/>
          <a:stretch/>
        </p:blipFill>
        <p:spPr>
          <a:xfrm>
            <a:off x="-1" y="1"/>
            <a:ext cx="3177767" cy="4635374"/>
          </a:xfrm>
          <a:prstGeom prst="rect">
            <a:avLst/>
          </a:prstGeom>
        </p:spPr>
      </p:pic>
      <p:pic>
        <p:nvPicPr>
          <p:cNvPr id="8" name="Bild 7">
            <a:extLst>
              <a:ext uri="{FF2B5EF4-FFF2-40B4-BE49-F238E27FC236}">
                <a16:creationId xmlns:a16="http://schemas.microsoft.com/office/drawing/2014/main" id="{70792B10-D270-C2C6-5B88-13B9E3D50A01}"/>
              </a:ext>
            </a:extLst>
          </p:cNvPr>
          <p:cNvPicPr>
            <a:picLocks noChangeAspect="1"/>
          </p:cNvPicPr>
          <p:nvPr userDrawn="1"/>
        </p:nvPicPr>
        <p:blipFill rotWithShape="1">
          <a:blip cstate="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t="72740" r="75198" b="-1"/>
          <a:stretch/>
        </p:blipFill>
        <p:spPr>
          <a:xfrm flipH="1">
            <a:off x="9166550" y="4988459"/>
            <a:ext cx="3023858" cy="1869540"/>
          </a:xfrm>
          <a:prstGeom prst="rect">
            <a:avLst/>
          </a:prstGeom>
        </p:spPr>
      </p:pic>
      <p:pic>
        <p:nvPicPr>
          <p:cNvPr id="9" name="Logotype">
            <a:extLst>
              <a:ext uri="{FF2B5EF4-FFF2-40B4-BE49-F238E27FC236}">
                <a16:creationId xmlns:a16="http://schemas.microsoft.com/office/drawing/2014/main" id="{5CB0B686-93A0-FA00-859F-3930A6FB741E}"/>
              </a:ext>
            </a:extLst>
          </p:cNvPr>
          <p:cNvPicPr>
            <a:picLocks noChangeAspect="1"/>
          </p:cNvPicPr>
          <p:nvPr userDrawn="1"/>
        </p:nvPicPr>
        <p:blipFill>
          <a:blip cstate="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213011" y="998292"/>
            <a:ext cx="1764387" cy="1974432"/>
          </a:xfrm>
          <a:prstGeom prst="rect">
            <a:avLst/>
          </a:prstGeom>
        </p:spPr>
      </p:pic>
      <p:sp>
        <p:nvSpPr>
          <p:cNvPr id="2" name="Rubrik 1">
            <a:extLst>
              <a:ext uri="{FF2B5EF4-FFF2-40B4-BE49-F238E27FC236}">
                <a16:creationId xmlns:a16="http://schemas.microsoft.com/office/drawing/2014/main" id="{191A984F-EC06-FCDC-F274-D5275A60CDCA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695853" y="3571875"/>
            <a:ext cx="8798701" cy="1654175"/>
          </a:xfrm>
        </p:spPr>
        <p:txBody>
          <a:bodyPr anchor="ctr">
            <a:noAutofit/>
          </a:bodyPr>
          <a:lstStyle>
            <a:lvl1pPr algn="ctr">
              <a:defRPr sz="4800">
                <a:solidFill>
                  <a:schemeClr val="bg1"/>
                </a:solidFill>
              </a:defRPr>
            </a:lvl1pPr>
          </a:lstStyle>
          <a:p>
            <a:r>
              <a:rPr lang="sv-SE" dirty="0"/>
              <a:t>Presentation </a:t>
            </a:r>
            <a:r>
              <a:rPr lang="sv-SE" dirty="0" err="1"/>
              <a:t>title</a:t>
            </a:r>
            <a:endParaRPr lang="sv-SE" dirty="0"/>
          </a:p>
        </p:txBody>
      </p:sp>
      <p:sp>
        <p:nvSpPr>
          <p:cNvPr id="3" name="Underrubrik 2">
            <a:extLst>
              <a:ext uri="{FF2B5EF4-FFF2-40B4-BE49-F238E27FC236}">
                <a16:creationId xmlns:a16="http://schemas.microsoft.com/office/drawing/2014/main" id="{7A3458D8-0B11-6CF5-7CF4-C5CA80850FBF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2132013" y="5776913"/>
            <a:ext cx="7926387" cy="461962"/>
          </a:xfrm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sv-SE" dirty="0" err="1"/>
              <a:t>Subtitle</a:t>
            </a:r>
            <a:r>
              <a:rPr lang="sv-SE" dirty="0"/>
              <a:t> </a:t>
            </a:r>
            <a:r>
              <a:rPr lang="sv-SE" dirty="0" err="1"/>
              <a:t>here</a:t>
            </a:r>
            <a:endParaRPr lang="sv-SE" dirty="0"/>
          </a:p>
        </p:txBody>
      </p:sp>
      <p:sp>
        <p:nvSpPr>
          <p:cNvPr id="4" name="Platshållare för datum 3">
            <a:extLst>
              <a:ext uri="{FF2B5EF4-FFF2-40B4-BE49-F238E27FC236}">
                <a16:creationId xmlns:a16="http://schemas.microsoft.com/office/drawing/2014/main" id="{43D49F56-9255-DA2A-05B7-92B1B041F7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369C0258-E083-684F-B81E-2491FB4EFBD1}" type="datetime1">
              <a:rPr lang="sv-SE" smtClean="0"/>
              <a:t>2026-10-06</a:t>
            </a:fld>
            <a:endParaRPr lang="sv-SE"/>
          </a:p>
        </p:txBody>
      </p:sp>
      <p:sp>
        <p:nvSpPr>
          <p:cNvPr id="5" name="Platshållare för sidfot 4">
            <a:extLst>
              <a:ext uri="{FF2B5EF4-FFF2-40B4-BE49-F238E27FC236}">
                <a16:creationId xmlns:a16="http://schemas.microsoft.com/office/drawing/2014/main" id="{5B69D7AE-6EEB-EE3E-0310-ED9C355673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sv-SE"/>
              <a:t>Presentation footer</a:t>
            </a:r>
          </a:p>
        </p:txBody>
      </p:sp>
      <p:sp>
        <p:nvSpPr>
          <p:cNvPr id="6" name="Platshållare för bildnummer 5">
            <a:extLst>
              <a:ext uri="{FF2B5EF4-FFF2-40B4-BE49-F238E27FC236}">
                <a16:creationId xmlns:a16="http://schemas.microsoft.com/office/drawing/2014/main" id="{A79EDCB6-5D2D-0312-1EF1-C34529D8AD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B716C8F4-20CD-364A-8A8E-DE130115B178}" type="slidenum">
              <a:rPr lang="sv-SE" smtClean="0"/>
              <a:pPr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247854014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Title/chapter, navy blue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Bild 7">
            <a:extLst>
              <a:ext uri="{FF2B5EF4-FFF2-40B4-BE49-F238E27FC236}">
                <a16:creationId xmlns:a16="http://schemas.microsoft.com/office/drawing/2014/main" id="{E5884329-1698-379E-55B0-296699708BB2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Rubrik 1">
            <a:extLst>
              <a:ext uri="{FF2B5EF4-FFF2-40B4-BE49-F238E27FC236}">
                <a16:creationId xmlns:a16="http://schemas.microsoft.com/office/drawing/2014/main" id="{08FF4B0F-EDDD-A22D-72B1-38F4939D3C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0074" y="2218797"/>
            <a:ext cx="7218363" cy="2852737"/>
          </a:xfrm>
        </p:spPr>
        <p:txBody>
          <a:bodyPr anchor="b"/>
          <a:lstStyle>
            <a:lvl1pPr>
              <a:defRPr sz="6000">
                <a:solidFill>
                  <a:schemeClr val="bg1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sv-SE" dirty="0"/>
          </a:p>
        </p:txBody>
      </p:sp>
      <p:sp>
        <p:nvSpPr>
          <p:cNvPr id="3" name="Platshållare för text 2">
            <a:extLst>
              <a:ext uri="{FF2B5EF4-FFF2-40B4-BE49-F238E27FC236}">
                <a16:creationId xmlns:a16="http://schemas.microsoft.com/office/drawing/2014/main" id="{D2F2B0C3-2BAB-6502-DD24-88356B83947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00074" y="5226050"/>
            <a:ext cx="7218363" cy="863600"/>
          </a:xfrm>
        </p:spPr>
        <p:txBody>
          <a:bodyPr/>
          <a:lstStyle>
            <a:lvl1pPr marL="0" indent="0">
              <a:buNone/>
              <a:defRPr sz="2400">
                <a:solidFill>
                  <a:schemeClr val="accent2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Platshållare för datum 3">
            <a:extLst>
              <a:ext uri="{FF2B5EF4-FFF2-40B4-BE49-F238E27FC236}">
                <a16:creationId xmlns:a16="http://schemas.microsoft.com/office/drawing/2014/main" id="{F851E848-251E-E2DA-7C4F-1D00914218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C894E9-0885-714C-A367-BDC2DC59BB91}" type="datetime1">
              <a:rPr lang="sv-SE" smtClean="0"/>
              <a:t>2026-10-06</a:t>
            </a:fld>
            <a:endParaRPr lang="sv-SE"/>
          </a:p>
        </p:txBody>
      </p:sp>
      <p:sp>
        <p:nvSpPr>
          <p:cNvPr id="5" name="Platshållare för sidfot 4">
            <a:extLst>
              <a:ext uri="{FF2B5EF4-FFF2-40B4-BE49-F238E27FC236}">
                <a16:creationId xmlns:a16="http://schemas.microsoft.com/office/drawing/2014/main" id="{7B17E8BE-A4A4-85C9-B892-43238732B0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sv-SE"/>
              <a:t>Presentation footer</a:t>
            </a:r>
          </a:p>
        </p:txBody>
      </p:sp>
      <p:sp>
        <p:nvSpPr>
          <p:cNvPr id="6" name="Platshållare för bildnummer 5">
            <a:extLst>
              <a:ext uri="{FF2B5EF4-FFF2-40B4-BE49-F238E27FC236}">
                <a16:creationId xmlns:a16="http://schemas.microsoft.com/office/drawing/2014/main" id="{D29BC8E8-F5C8-822E-801D-9D7D18708A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16C8F4-20CD-364A-8A8E-DE130115B178}" type="slidenum">
              <a:rPr lang="sv-SE" smtClean="0"/>
              <a:t>‹#›</a:t>
            </a:fld>
            <a:endParaRPr lang="sv-SE"/>
          </a:p>
        </p:txBody>
      </p:sp>
      <p:pic>
        <p:nvPicPr>
          <p:cNvPr id="9" name="Bild 8">
            <a:extLst>
              <a:ext uri="{FF2B5EF4-FFF2-40B4-BE49-F238E27FC236}">
                <a16:creationId xmlns:a16="http://schemas.microsoft.com/office/drawing/2014/main" id="{E3DA9A33-1CAA-3164-6E44-47421CD08E03}"/>
              </a:ext>
            </a:extLst>
          </p:cNvPr>
          <p:cNvPicPr>
            <a:picLocks noChangeAspect="1"/>
          </p:cNvPicPr>
          <p:nvPr userDrawn="1"/>
        </p:nvPicPr>
        <p:blipFill>
          <a:blip cstate="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82681" y="164553"/>
            <a:ext cx="648592" cy="7258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5062996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Headlin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ubrik 1">
            <a:extLst>
              <a:ext uri="{FF2B5EF4-FFF2-40B4-BE49-F238E27FC236}">
                <a16:creationId xmlns:a16="http://schemas.microsoft.com/office/drawing/2014/main" id="{8798893C-4CC2-2B2F-4FC8-5E0C5AE0DA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sv-SE"/>
          </a:p>
        </p:txBody>
      </p:sp>
      <p:sp>
        <p:nvSpPr>
          <p:cNvPr id="3" name="Platshållare för innehåll 2">
            <a:extLst>
              <a:ext uri="{FF2B5EF4-FFF2-40B4-BE49-F238E27FC236}">
                <a16:creationId xmlns:a16="http://schemas.microsoft.com/office/drawing/2014/main" id="{25C9F0B7-F98C-CB91-2115-2967E7B1517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sv-SE"/>
          </a:p>
        </p:txBody>
      </p:sp>
      <p:sp>
        <p:nvSpPr>
          <p:cNvPr id="4" name="Platshållare för datum 3">
            <a:extLst>
              <a:ext uri="{FF2B5EF4-FFF2-40B4-BE49-F238E27FC236}">
                <a16:creationId xmlns:a16="http://schemas.microsoft.com/office/drawing/2014/main" id="{1EDDDBB2-E3A5-184D-9122-109D1DA687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CF0965-93C0-9548-8879-5851BCBC049F}" type="datetime1">
              <a:rPr lang="sv-SE" smtClean="0"/>
              <a:t>2026-10-06</a:t>
            </a:fld>
            <a:endParaRPr lang="sv-SE"/>
          </a:p>
        </p:txBody>
      </p:sp>
      <p:sp>
        <p:nvSpPr>
          <p:cNvPr id="5" name="Platshållare för sidfot 4">
            <a:extLst>
              <a:ext uri="{FF2B5EF4-FFF2-40B4-BE49-F238E27FC236}">
                <a16:creationId xmlns:a16="http://schemas.microsoft.com/office/drawing/2014/main" id="{8877E5B5-9B3B-1F13-E51F-88E6C87DC4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sv-SE"/>
              <a:t>Presentation footer</a:t>
            </a:r>
          </a:p>
        </p:txBody>
      </p:sp>
      <p:sp>
        <p:nvSpPr>
          <p:cNvPr id="6" name="Platshållare för bildnummer 5">
            <a:extLst>
              <a:ext uri="{FF2B5EF4-FFF2-40B4-BE49-F238E27FC236}">
                <a16:creationId xmlns:a16="http://schemas.microsoft.com/office/drawing/2014/main" id="{A8432B03-1FFF-FE82-834F-9C4FBE4D6A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16C8F4-20CD-364A-8A8E-DE130115B178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2178780645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par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ubrik 1">
            <a:extLst>
              <a:ext uri="{FF2B5EF4-FFF2-40B4-BE49-F238E27FC236}">
                <a16:creationId xmlns:a16="http://schemas.microsoft.com/office/drawing/2014/main" id="{614959C9-2F76-B9B0-59E8-58FE65006E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sv-SE" dirty="0"/>
          </a:p>
        </p:txBody>
      </p:sp>
      <p:sp>
        <p:nvSpPr>
          <p:cNvPr id="3" name="Platshållare för innehåll 2">
            <a:extLst>
              <a:ext uri="{FF2B5EF4-FFF2-40B4-BE49-F238E27FC236}">
                <a16:creationId xmlns:a16="http://schemas.microsoft.com/office/drawing/2014/main" id="{902AE670-4D80-39DE-5AAA-236D68C5E4F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00075" y="1795850"/>
            <a:ext cx="5314950" cy="4531923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sv-SE" dirty="0"/>
          </a:p>
        </p:txBody>
      </p:sp>
      <p:sp>
        <p:nvSpPr>
          <p:cNvPr id="4" name="Platshållare för innehåll 3">
            <a:extLst>
              <a:ext uri="{FF2B5EF4-FFF2-40B4-BE49-F238E27FC236}">
                <a16:creationId xmlns:a16="http://schemas.microsoft.com/office/drawing/2014/main" id="{540C6723-9D57-3BE7-0314-142789CF937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75388" y="1795851"/>
            <a:ext cx="5314950" cy="4531924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sv-SE" dirty="0"/>
          </a:p>
        </p:txBody>
      </p:sp>
      <p:sp>
        <p:nvSpPr>
          <p:cNvPr id="5" name="Platshållare för datum 4">
            <a:extLst>
              <a:ext uri="{FF2B5EF4-FFF2-40B4-BE49-F238E27FC236}">
                <a16:creationId xmlns:a16="http://schemas.microsoft.com/office/drawing/2014/main" id="{E2533F65-F144-E57C-127B-9A8D7ABE67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7A58AE-A0B6-FF4E-B30B-64917FEAC316}" type="datetime1">
              <a:rPr lang="sv-SE" smtClean="0"/>
              <a:t>2026-10-06</a:t>
            </a:fld>
            <a:endParaRPr lang="sv-SE"/>
          </a:p>
        </p:txBody>
      </p:sp>
      <p:sp>
        <p:nvSpPr>
          <p:cNvPr id="6" name="Platshållare för sidfot 5">
            <a:extLst>
              <a:ext uri="{FF2B5EF4-FFF2-40B4-BE49-F238E27FC236}">
                <a16:creationId xmlns:a16="http://schemas.microsoft.com/office/drawing/2014/main" id="{F6C0DB15-F374-5A00-4880-4AA76C675F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sv-SE"/>
              <a:t>Presentation footer</a:t>
            </a:r>
          </a:p>
        </p:txBody>
      </p:sp>
      <p:sp>
        <p:nvSpPr>
          <p:cNvPr id="7" name="Platshållare för bildnummer 6">
            <a:extLst>
              <a:ext uri="{FF2B5EF4-FFF2-40B4-BE49-F238E27FC236}">
                <a16:creationId xmlns:a16="http://schemas.microsoft.com/office/drawing/2014/main" id="{12539EF3-2889-FC04-31FC-8AF48EAFC0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16C8F4-20CD-364A-8A8E-DE130115B178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1548705104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and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ubrik 6">
            <a:extLst>
              <a:ext uri="{FF2B5EF4-FFF2-40B4-BE49-F238E27FC236}">
                <a16:creationId xmlns:a16="http://schemas.microsoft.com/office/drawing/2014/main" id="{9B9D78B8-14EA-7C8B-0F6E-5FC0A61A76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0076" y="1095632"/>
            <a:ext cx="4929982" cy="977612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sv-SE" dirty="0"/>
          </a:p>
        </p:txBody>
      </p:sp>
      <p:sp>
        <p:nvSpPr>
          <p:cNvPr id="6" name="Platshållare för innehåll 2">
            <a:extLst>
              <a:ext uri="{FF2B5EF4-FFF2-40B4-BE49-F238E27FC236}">
                <a16:creationId xmlns:a16="http://schemas.microsoft.com/office/drawing/2014/main" id="{C8E71948-DDFC-93D6-07D4-FA5E9923A9C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00075" y="2281473"/>
            <a:ext cx="4929982" cy="4046300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sv-SE" dirty="0"/>
          </a:p>
        </p:txBody>
      </p:sp>
      <p:sp>
        <p:nvSpPr>
          <p:cNvPr id="8" name="Platshållare för bild 2">
            <a:extLst>
              <a:ext uri="{FF2B5EF4-FFF2-40B4-BE49-F238E27FC236}">
                <a16:creationId xmlns:a16="http://schemas.microsoft.com/office/drawing/2014/main" id="{A51C4AA9-7CC2-70C9-89B3-A18AC9ECAA35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6096000" y="0"/>
            <a:ext cx="6096000" cy="6858000"/>
          </a:xfrm>
        </p:spPr>
        <p:txBody>
          <a:bodyPr bIns="1044000" anchor="ctr"/>
          <a:lstStyle>
            <a:lvl1pPr marL="0" indent="0" algn="ctr">
              <a:buNone/>
              <a:defRPr/>
            </a:lvl1pPr>
          </a:lstStyle>
          <a:p>
            <a:r>
              <a:rPr lang="sv-SE" dirty="0" err="1"/>
              <a:t>Click</a:t>
            </a:r>
            <a:r>
              <a:rPr lang="sv-SE" dirty="0"/>
              <a:t> on the </a:t>
            </a:r>
            <a:r>
              <a:rPr lang="sv-SE" dirty="0" err="1"/>
              <a:t>icon</a:t>
            </a:r>
            <a:r>
              <a:rPr lang="sv-SE" dirty="0"/>
              <a:t> or </a:t>
            </a:r>
            <a:br>
              <a:rPr lang="sv-SE" dirty="0"/>
            </a:br>
            <a:r>
              <a:rPr lang="sv-SE" dirty="0"/>
              <a:t>drag and </a:t>
            </a:r>
            <a:r>
              <a:rPr lang="sv-SE" dirty="0" err="1"/>
              <a:t>drop</a:t>
            </a:r>
            <a:r>
              <a:rPr lang="sv-SE" dirty="0"/>
              <a:t> to </a:t>
            </a:r>
            <a:r>
              <a:rPr lang="sv-SE" dirty="0" err="1"/>
              <a:t>insert</a:t>
            </a:r>
            <a:r>
              <a:rPr lang="sv-SE" dirty="0"/>
              <a:t> an image</a:t>
            </a:r>
          </a:p>
        </p:txBody>
      </p:sp>
      <p:sp>
        <p:nvSpPr>
          <p:cNvPr id="3" name="Platshållare för datum 2">
            <a:extLst>
              <a:ext uri="{FF2B5EF4-FFF2-40B4-BE49-F238E27FC236}">
                <a16:creationId xmlns:a16="http://schemas.microsoft.com/office/drawing/2014/main" id="{1A8EB3F3-676A-79F6-8987-44C3A32E04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15C714-122B-4048-9D2D-1F5A3BEA504A}" type="datetime1">
              <a:rPr lang="sv-SE" smtClean="0"/>
              <a:t>2026-10-06</a:t>
            </a:fld>
            <a:endParaRPr lang="sv-SE" dirty="0"/>
          </a:p>
        </p:txBody>
      </p:sp>
      <p:sp>
        <p:nvSpPr>
          <p:cNvPr id="4" name="Platshållare för sidfot 3">
            <a:extLst>
              <a:ext uri="{FF2B5EF4-FFF2-40B4-BE49-F238E27FC236}">
                <a16:creationId xmlns:a16="http://schemas.microsoft.com/office/drawing/2014/main" id="{A0C791DF-47D1-0444-64B4-28EE4F11BC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sv-SE"/>
              <a:t>Presentation footer</a:t>
            </a:r>
            <a:endParaRPr lang="sv-SE" dirty="0"/>
          </a:p>
        </p:txBody>
      </p:sp>
      <p:sp>
        <p:nvSpPr>
          <p:cNvPr id="5" name="Platshållare för bildnummer 4">
            <a:extLst>
              <a:ext uri="{FF2B5EF4-FFF2-40B4-BE49-F238E27FC236}">
                <a16:creationId xmlns:a16="http://schemas.microsoft.com/office/drawing/2014/main" id="{F9FF0802-1CA1-C7EA-0195-64C787BCB7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16C8F4-20CD-364A-8A8E-DE130115B178}" type="slidenum">
              <a:rPr lang="sv-SE" smtClean="0"/>
              <a:pPr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3622685885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, KTH blu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ktangel 11">
            <a:extLst>
              <a:ext uri="{FF2B5EF4-FFF2-40B4-BE49-F238E27FC236}">
                <a16:creationId xmlns:a16="http://schemas.microsoft.com/office/drawing/2014/main" id="{D397E574-764C-83EF-BF38-E62B63590B09}"/>
              </a:ext>
            </a:extLst>
          </p:cNvPr>
          <p:cNvSpPr/>
          <p:nvPr userDrawn="1"/>
        </p:nvSpPr>
        <p:spPr>
          <a:xfrm>
            <a:off x="0" y="0"/>
            <a:ext cx="6096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v-SE" dirty="0"/>
          </a:p>
        </p:txBody>
      </p:sp>
      <p:pic>
        <p:nvPicPr>
          <p:cNvPr id="7" name="Bild 6">
            <a:extLst>
              <a:ext uri="{FF2B5EF4-FFF2-40B4-BE49-F238E27FC236}">
                <a16:creationId xmlns:a16="http://schemas.microsoft.com/office/drawing/2014/main" id="{83C6AD54-EED3-3960-39F1-6C44C49ED29A}"/>
              </a:ext>
            </a:extLst>
          </p:cNvPr>
          <p:cNvPicPr>
            <a:picLocks noChangeAspect="1"/>
          </p:cNvPicPr>
          <p:nvPr userDrawn="1"/>
        </p:nvPicPr>
        <p:blipFill>
          <a:blip cstate="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82681" y="164553"/>
            <a:ext cx="648592" cy="725806"/>
          </a:xfrm>
          <a:prstGeom prst="rect">
            <a:avLst/>
          </a:prstGeom>
        </p:spPr>
      </p:pic>
      <p:sp>
        <p:nvSpPr>
          <p:cNvPr id="14" name="Rubrik 1">
            <a:extLst>
              <a:ext uri="{FF2B5EF4-FFF2-40B4-BE49-F238E27FC236}">
                <a16:creationId xmlns:a16="http://schemas.microsoft.com/office/drawing/2014/main" id="{3B85E6DD-F8DF-4BBD-E46A-52EC6D703C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0076" y="1095632"/>
            <a:ext cx="4929982" cy="977612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sv-SE" dirty="0"/>
          </a:p>
        </p:txBody>
      </p:sp>
      <p:sp>
        <p:nvSpPr>
          <p:cNvPr id="13" name="Platshållare för innehåll 1">
            <a:extLst>
              <a:ext uri="{FF2B5EF4-FFF2-40B4-BE49-F238E27FC236}">
                <a16:creationId xmlns:a16="http://schemas.microsoft.com/office/drawing/2014/main" id="{DD1CE06C-E8A4-9360-B155-3B7D11D411E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00075" y="2281473"/>
            <a:ext cx="4929982" cy="4046300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sv-SE" dirty="0"/>
          </a:p>
        </p:txBody>
      </p:sp>
      <p:sp>
        <p:nvSpPr>
          <p:cNvPr id="8" name="Rubrik 2">
            <a:extLst>
              <a:ext uri="{FF2B5EF4-FFF2-40B4-BE49-F238E27FC236}">
                <a16:creationId xmlns:a16="http://schemas.microsoft.com/office/drawing/2014/main" id="{CC32D746-BC2A-D4E0-4FDE-8026A3339744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660356" y="1095632"/>
            <a:ext cx="4928392" cy="977612"/>
          </a:xfrm>
        </p:spPr>
        <p:txBody>
          <a:bodyPr tIns="108000" anchor="t">
            <a:noAutofit/>
          </a:bodyPr>
          <a:lstStyle>
            <a:lvl1pPr marL="0" indent="0">
              <a:lnSpc>
                <a:spcPct val="90000"/>
              </a:lnSpc>
              <a:buNone/>
              <a:defRPr sz="3600" b="1">
                <a:solidFill>
                  <a:schemeClr val="bg1"/>
                </a:solidFill>
                <a:latin typeface="+mj-lt"/>
              </a:defRPr>
            </a:lvl1pPr>
            <a:lvl2pPr marL="457200" indent="0">
              <a:buNone/>
              <a:defRPr>
                <a:solidFill>
                  <a:schemeClr val="tx2"/>
                </a:solidFill>
                <a:latin typeface="+mj-lt"/>
              </a:defRPr>
            </a:lvl2pPr>
            <a:lvl3pPr marL="914400" indent="0">
              <a:buNone/>
              <a:defRPr>
                <a:solidFill>
                  <a:schemeClr val="tx2"/>
                </a:solidFill>
                <a:latin typeface="+mj-lt"/>
              </a:defRPr>
            </a:lvl3pPr>
            <a:lvl4pPr marL="1371600" indent="0">
              <a:buNone/>
              <a:defRPr>
                <a:solidFill>
                  <a:schemeClr val="tx2"/>
                </a:solidFill>
                <a:latin typeface="+mj-lt"/>
              </a:defRPr>
            </a:lvl4pPr>
            <a:lvl5pPr marL="1828800" indent="0">
              <a:buNone/>
              <a:defRPr>
                <a:solidFill>
                  <a:schemeClr val="tx2"/>
                </a:solidFill>
                <a:latin typeface="+mj-lt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10" name="Platshållare för innehåll 2">
            <a:extLst>
              <a:ext uri="{FF2B5EF4-FFF2-40B4-BE49-F238E27FC236}">
                <a16:creationId xmlns:a16="http://schemas.microsoft.com/office/drawing/2014/main" id="{0B6CAC2E-851A-9B60-91F5-AEEA25AB753E}"/>
              </a:ext>
            </a:extLst>
          </p:cNvPr>
          <p:cNvSpPr>
            <a:spLocks noGrp="1"/>
          </p:cNvSpPr>
          <p:nvPr>
            <p:ph sz="half" idx="13"/>
          </p:nvPr>
        </p:nvSpPr>
        <p:spPr>
          <a:xfrm>
            <a:off x="6661947" y="2281473"/>
            <a:ext cx="4928391" cy="4046300"/>
          </a:xfrm>
        </p:spPr>
        <p:txBody>
          <a:bodyPr/>
          <a:lstStyle>
            <a:lvl1pPr>
              <a:buClr>
                <a:schemeClr val="accent2"/>
              </a:buClr>
              <a:defRPr>
                <a:solidFill>
                  <a:schemeClr val="bg1"/>
                </a:solidFill>
              </a:defRPr>
            </a:lvl1pPr>
            <a:lvl2pPr>
              <a:buClr>
                <a:schemeClr val="accent2"/>
              </a:buClr>
              <a:defRPr>
                <a:solidFill>
                  <a:schemeClr val="bg1"/>
                </a:solidFill>
              </a:defRPr>
            </a:lvl2pPr>
            <a:lvl3pPr>
              <a:buClr>
                <a:schemeClr val="accent2"/>
              </a:buClr>
              <a:defRPr>
                <a:solidFill>
                  <a:schemeClr val="bg1"/>
                </a:solidFill>
              </a:defRPr>
            </a:lvl3pPr>
            <a:lvl4pPr>
              <a:buClr>
                <a:schemeClr val="accent2"/>
              </a:buClr>
              <a:defRPr>
                <a:solidFill>
                  <a:schemeClr val="bg1"/>
                </a:solidFill>
              </a:defRPr>
            </a:lvl4pPr>
            <a:lvl5pPr>
              <a:buClr>
                <a:schemeClr val="accent2"/>
              </a:buCl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sv-SE" dirty="0"/>
          </a:p>
        </p:txBody>
      </p:sp>
      <p:sp>
        <p:nvSpPr>
          <p:cNvPr id="3" name="Platshållare för datum 2">
            <a:extLst>
              <a:ext uri="{FF2B5EF4-FFF2-40B4-BE49-F238E27FC236}">
                <a16:creationId xmlns:a16="http://schemas.microsoft.com/office/drawing/2014/main" id="{1A8EB3F3-676A-79F6-8987-44C3A32E04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03E109-5503-A446-83DE-4F0349794E27}" type="datetime1">
              <a:rPr lang="sv-SE" smtClean="0"/>
              <a:t>2026-10-06</a:t>
            </a:fld>
            <a:endParaRPr lang="sv-SE" dirty="0"/>
          </a:p>
        </p:txBody>
      </p:sp>
      <p:sp>
        <p:nvSpPr>
          <p:cNvPr id="4" name="Platshållare för sidfot 3">
            <a:extLst>
              <a:ext uri="{FF2B5EF4-FFF2-40B4-BE49-F238E27FC236}">
                <a16:creationId xmlns:a16="http://schemas.microsoft.com/office/drawing/2014/main" id="{A0C791DF-47D1-0444-64B4-28EE4F11BC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sv-SE"/>
              <a:t>Presentation footer</a:t>
            </a:r>
            <a:endParaRPr lang="sv-SE" dirty="0"/>
          </a:p>
        </p:txBody>
      </p:sp>
      <p:sp>
        <p:nvSpPr>
          <p:cNvPr id="5" name="Platshållare för bildnummer 4">
            <a:extLst>
              <a:ext uri="{FF2B5EF4-FFF2-40B4-BE49-F238E27FC236}">
                <a16:creationId xmlns:a16="http://schemas.microsoft.com/office/drawing/2014/main" id="{F9FF0802-1CA1-C7EA-0195-64C787BCB7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16C8F4-20CD-364A-8A8E-DE130115B178}" type="slidenum">
              <a:rPr lang="sv-SE" smtClean="0"/>
              <a:pPr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2371567280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eadline and 1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ubrik 1">
            <a:extLst>
              <a:ext uri="{FF2B5EF4-FFF2-40B4-BE49-F238E27FC236}">
                <a16:creationId xmlns:a16="http://schemas.microsoft.com/office/drawing/2014/main" id="{6EAA9509-04AF-A771-D4EB-D92258F2A7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sv-SE"/>
          </a:p>
        </p:txBody>
      </p:sp>
      <p:sp>
        <p:nvSpPr>
          <p:cNvPr id="6" name="Platshållare för bild 2">
            <a:extLst>
              <a:ext uri="{FF2B5EF4-FFF2-40B4-BE49-F238E27FC236}">
                <a16:creationId xmlns:a16="http://schemas.microsoft.com/office/drawing/2014/main" id="{419479CD-E7B7-E759-7ABC-5CD5CC7C7450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600074" y="1919288"/>
            <a:ext cx="10990263" cy="4408487"/>
          </a:xfrm>
        </p:spPr>
        <p:txBody>
          <a:bodyPr bIns="1044000" anchor="ctr"/>
          <a:lstStyle>
            <a:lvl1pPr marL="0" indent="0" algn="ctr">
              <a:buNone/>
              <a:defRPr/>
            </a:lvl1pPr>
          </a:lstStyle>
          <a:p>
            <a:r>
              <a:rPr lang="sv-SE" dirty="0" err="1"/>
              <a:t>Click</a:t>
            </a:r>
            <a:r>
              <a:rPr lang="sv-SE" dirty="0"/>
              <a:t> on the </a:t>
            </a:r>
            <a:r>
              <a:rPr lang="sv-SE" dirty="0" err="1"/>
              <a:t>icon</a:t>
            </a:r>
            <a:r>
              <a:rPr lang="sv-SE" dirty="0"/>
              <a:t> or </a:t>
            </a:r>
            <a:br>
              <a:rPr lang="sv-SE" dirty="0"/>
            </a:br>
            <a:r>
              <a:rPr lang="sv-SE" dirty="0"/>
              <a:t>drag and </a:t>
            </a:r>
            <a:r>
              <a:rPr lang="sv-SE" dirty="0" err="1"/>
              <a:t>drop</a:t>
            </a:r>
            <a:r>
              <a:rPr lang="sv-SE" dirty="0"/>
              <a:t> to </a:t>
            </a:r>
            <a:r>
              <a:rPr lang="sv-SE" dirty="0" err="1"/>
              <a:t>insert</a:t>
            </a:r>
            <a:r>
              <a:rPr lang="sv-SE" dirty="0"/>
              <a:t> an image</a:t>
            </a:r>
          </a:p>
        </p:txBody>
      </p:sp>
      <p:sp>
        <p:nvSpPr>
          <p:cNvPr id="3" name="Platshållare för datum 2">
            <a:extLst>
              <a:ext uri="{FF2B5EF4-FFF2-40B4-BE49-F238E27FC236}">
                <a16:creationId xmlns:a16="http://schemas.microsoft.com/office/drawing/2014/main" id="{9E441D1D-F64B-D03C-6A3E-4332F53C56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50A6BD-1EFB-BD42-9DC0-F0A6BEB4C27D}" type="datetime1">
              <a:rPr lang="sv-SE" smtClean="0"/>
              <a:t>2026-10-06</a:t>
            </a:fld>
            <a:endParaRPr lang="sv-SE"/>
          </a:p>
        </p:txBody>
      </p:sp>
      <p:sp>
        <p:nvSpPr>
          <p:cNvPr id="4" name="Platshållare för sidfot 3">
            <a:extLst>
              <a:ext uri="{FF2B5EF4-FFF2-40B4-BE49-F238E27FC236}">
                <a16:creationId xmlns:a16="http://schemas.microsoft.com/office/drawing/2014/main" id="{D6B063F1-EBFF-649E-5CFE-AC74796105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sv-SE"/>
              <a:t>Presentation footer</a:t>
            </a:r>
          </a:p>
        </p:txBody>
      </p:sp>
      <p:sp>
        <p:nvSpPr>
          <p:cNvPr id="5" name="Platshållare för bildnummer 4">
            <a:extLst>
              <a:ext uri="{FF2B5EF4-FFF2-40B4-BE49-F238E27FC236}">
                <a16:creationId xmlns:a16="http://schemas.microsoft.com/office/drawing/2014/main" id="{BDA80FCC-5A03-2568-468F-2FC65324A4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16C8F4-20CD-364A-8A8E-DE130115B178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1456669123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eadline and 2 images,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ubrik 1">
            <a:extLst>
              <a:ext uri="{FF2B5EF4-FFF2-40B4-BE49-F238E27FC236}">
                <a16:creationId xmlns:a16="http://schemas.microsoft.com/office/drawing/2014/main" id="{6EAA9509-04AF-A771-D4EB-D92258F2A7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sv-SE"/>
          </a:p>
        </p:txBody>
      </p:sp>
      <p:sp>
        <p:nvSpPr>
          <p:cNvPr id="6" name="Platshållare för bild 2">
            <a:extLst>
              <a:ext uri="{FF2B5EF4-FFF2-40B4-BE49-F238E27FC236}">
                <a16:creationId xmlns:a16="http://schemas.microsoft.com/office/drawing/2014/main" id="{419479CD-E7B7-E759-7ABC-5CD5CC7C7450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600075" y="1919288"/>
            <a:ext cx="5314950" cy="3092979"/>
          </a:xfrm>
        </p:spPr>
        <p:txBody>
          <a:bodyPr bIns="1044000" anchor="ctr"/>
          <a:lstStyle>
            <a:lvl1pPr marL="0" indent="0" algn="ctr">
              <a:buNone/>
              <a:defRPr/>
            </a:lvl1pPr>
          </a:lstStyle>
          <a:p>
            <a:r>
              <a:rPr lang="sv-SE" dirty="0" err="1"/>
              <a:t>Click</a:t>
            </a:r>
            <a:r>
              <a:rPr lang="sv-SE" dirty="0"/>
              <a:t> on the </a:t>
            </a:r>
            <a:r>
              <a:rPr lang="sv-SE" dirty="0" err="1"/>
              <a:t>icon</a:t>
            </a:r>
            <a:r>
              <a:rPr lang="sv-SE" dirty="0"/>
              <a:t> or </a:t>
            </a:r>
            <a:br>
              <a:rPr lang="sv-SE" dirty="0"/>
            </a:br>
            <a:r>
              <a:rPr lang="sv-SE" dirty="0"/>
              <a:t>drag and </a:t>
            </a:r>
            <a:r>
              <a:rPr lang="sv-SE" dirty="0" err="1"/>
              <a:t>drop</a:t>
            </a:r>
            <a:r>
              <a:rPr lang="sv-SE" dirty="0"/>
              <a:t> to </a:t>
            </a:r>
            <a:r>
              <a:rPr lang="sv-SE" dirty="0" err="1"/>
              <a:t>insert</a:t>
            </a:r>
            <a:r>
              <a:rPr lang="sv-SE" dirty="0"/>
              <a:t> an image</a:t>
            </a:r>
          </a:p>
        </p:txBody>
      </p:sp>
      <p:sp>
        <p:nvSpPr>
          <p:cNvPr id="9" name="Platshållare för text 2">
            <a:extLst>
              <a:ext uri="{FF2B5EF4-FFF2-40B4-BE49-F238E27FC236}">
                <a16:creationId xmlns:a16="http://schemas.microsoft.com/office/drawing/2014/main" id="{BC674729-23CB-CE55-418D-9B4DA58EC148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600075" y="5226050"/>
            <a:ext cx="5314950" cy="1101725"/>
          </a:xfrm>
        </p:spPr>
        <p:txBody>
          <a:bodyPr/>
          <a:lstStyle>
            <a:lvl1pPr marL="0" indent="0">
              <a:buNone/>
              <a:defRPr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sv-SE" dirty="0"/>
          </a:p>
        </p:txBody>
      </p:sp>
      <p:sp>
        <p:nvSpPr>
          <p:cNvPr id="7" name="Platshållare för bild 3">
            <a:extLst>
              <a:ext uri="{FF2B5EF4-FFF2-40B4-BE49-F238E27FC236}">
                <a16:creationId xmlns:a16="http://schemas.microsoft.com/office/drawing/2014/main" id="{10E5EDDF-D49C-48DD-C908-7043750473EF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6273800" y="1919288"/>
            <a:ext cx="5314950" cy="3092979"/>
          </a:xfrm>
        </p:spPr>
        <p:txBody>
          <a:bodyPr bIns="1044000" anchor="ctr"/>
          <a:lstStyle>
            <a:lvl1pPr marL="0" indent="0" algn="ctr">
              <a:buNone/>
              <a:defRPr/>
            </a:lvl1pPr>
          </a:lstStyle>
          <a:p>
            <a:r>
              <a:rPr lang="sv-SE" dirty="0" err="1"/>
              <a:t>Click</a:t>
            </a:r>
            <a:r>
              <a:rPr lang="sv-SE" dirty="0"/>
              <a:t> on the </a:t>
            </a:r>
            <a:r>
              <a:rPr lang="sv-SE" dirty="0" err="1"/>
              <a:t>icon</a:t>
            </a:r>
            <a:r>
              <a:rPr lang="sv-SE" dirty="0"/>
              <a:t> or </a:t>
            </a:r>
            <a:br>
              <a:rPr lang="sv-SE" dirty="0"/>
            </a:br>
            <a:r>
              <a:rPr lang="sv-SE" dirty="0"/>
              <a:t>drag and </a:t>
            </a:r>
            <a:r>
              <a:rPr lang="sv-SE" dirty="0" err="1"/>
              <a:t>drop</a:t>
            </a:r>
            <a:r>
              <a:rPr lang="sv-SE" dirty="0"/>
              <a:t> to </a:t>
            </a:r>
            <a:r>
              <a:rPr lang="sv-SE" dirty="0" err="1"/>
              <a:t>insert</a:t>
            </a:r>
            <a:r>
              <a:rPr lang="sv-SE" dirty="0"/>
              <a:t> an image</a:t>
            </a:r>
          </a:p>
        </p:txBody>
      </p:sp>
      <p:sp>
        <p:nvSpPr>
          <p:cNvPr id="10" name="Platshållare för text 3">
            <a:extLst>
              <a:ext uri="{FF2B5EF4-FFF2-40B4-BE49-F238E27FC236}">
                <a16:creationId xmlns:a16="http://schemas.microsoft.com/office/drawing/2014/main" id="{4E2E81CD-B9BA-4D4B-D687-9453DEF10687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6275388" y="5226050"/>
            <a:ext cx="5314950" cy="1101725"/>
          </a:xfrm>
        </p:spPr>
        <p:txBody>
          <a:bodyPr/>
          <a:lstStyle>
            <a:lvl1pPr marL="0" indent="0">
              <a:buNone/>
              <a:defRPr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sv-SE" dirty="0"/>
          </a:p>
        </p:txBody>
      </p:sp>
      <p:sp>
        <p:nvSpPr>
          <p:cNvPr id="3" name="Platshållare för datum 2">
            <a:extLst>
              <a:ext uri="{FF2B5EF4-FFF2-40B4-BE49-F238E27FC236}">
                <a16:creationId xmlns:a16="http://schemas.microsoft.com/office/drawing/2014/main" id="{9E441D1D-F64B-D03C-6A3E-4332F53C56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A9746E-62D8-944D-99B0-D98695592DCF}" type="datetime1">
              <a:rPr lang="sv-SE" smtClean="0"/>
              <a:t>2026-10-06</a:t>
            </a:fld>
            <a:endParaRPr lang="sv-SE"/>
          </a:p>
        </p:txBody>
      </p:sp>
      <p:sp>
        <p:nvSpPr>
          <p:cNvPr id="4" name="Platshållare för sidfot 3">
            <a:extLst>
              <a:ext uri="{FF2B5EF4-FFF2-40B4-BE49-F238E27FC236}">
                <a16:creationId xmlns:a16="http://schemas.microsoft.com/office/drawing/2014/main" id="{D6B063F1-EBFF-649E-5CFE-AC74796105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sv-SE"/>
              <a:t>Presentation footer</a:t>
            </a:r>
          </a:p>
        </p:txBody>
      </p:sp>
      <p:sp>
        <p:nvSpPr>
          <p:cNvPr id="5" name="Platshållare för bildnummer 4">
            <a:extLst>
              <a:ext uri="{FF2B5EF4-FFF2-40B4-BE49-F238E27FC236}">
                <a16:creationId xmlns:a16="http://schemas.microsoft.com/office/drawing/2014/main" id="{BDA80FCC-5A03-2568-468F-2FC65324A4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16C8F4-20CD-364A-8A8E-DE130115B178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2469727001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eadline and 3 images,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ubrik 1">
            <a:extLst>
              <a:ext uri="{FF2B5EF4-FFF2-40B4-BE49-F238E27FC236}">
                <a16:creationId xmlns:a16="http://schemas.microsoft.com/office/drawing/2014/main" id="{6EAA9509-04AF-A771-D4EB-D92258F2A7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sv-SE"/>
          </a:p>
        </p:txBody>
      </p:sp>
      <p:sp>
        <p:nvSpPr>
          <p:cNvPr id="6" name="Platshållare för bild 2">
            <a:extLst>
              <a:ext uri="{FF2B5EF4-FFF2-40B4-BE49-F238E27FC236}">
                <a16:creationId xmlns:a16="http://schemas.microsoft.com/office/drawing/2014/main" id="{419479CD-E7B7-E759-7ABC-5CD5CC7C7450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600075" y="1919288"/>
            <a:ext cx="3424238" cy="3092979"/>
          </a:xfrm>
        </p:spPr>
        <p:txBody>
          <a:bodyPr bIns="1044000" anchor="ctr"/>
          <a:lstStyle>
            <a:lvl1pPr marL="0" indent="0" algn="ctr">
              <a:buNone/>
              <a:defRPr/>
            </a:lvl1pPr>
          </a:lstStyle>
          <a:p>
            <a:r>
              <a:rPr lang="sv-SE" dirty="0" err="1"/>
              <a:t>Click</a:t>
            </a:r>
            <a:r>
              <a:rPr lang="sv-SE" dirty="0"/>
              <a:t> on the </a:t>
            </a:r>
            <a:r>
              <a:rPr lang="sv-SE" dirty="0" err="1"/>
              <a:t>icon</a:t>
            </a:r>
            <a:r>
              <a:rPr lang="sv-SE" dirty="0"/>
              <a:t> or </a:t>
            </a:r>
            <a:br>
              <a:rPr lang="sv-SE" dirty="0"/>
            </a:br>
            <a:r>
              <a:rPr lang="sv-SE" dirty="0"/>
              <a:t>drag and </a:t>
            </a:r>
            <a:r>
              <a:rPr lang="sv-SE" dirty="0" err="1"/>
              <a:t>drop</a:t>
            </a:r>
            <a:r>
              <a:rPr lang="sv-SE" dirty="0"/>
              <a:t> to </a:t>
            </a:r>
            <a:r>
              <a:rPr lang="sv-SE" dirty="0" err="1"/>
              <a:t>insert</a:t>
            </a:r>
            <a:r>
              <a:rPr lang="sv-SE" dirty="0"/>
              <a:t> an image</a:t>
            </a:r>
          </a:p>
        </p:txBody>
      </p:sp>
      <p:sp>
        <p:nvSpPr>
          <p:cNvPr id="10" name="Platshållare för text 2">
            <a:extLst>
              <a:ext uri="{FF2B5EF4-FFF2-40B4-BE49-F238E27FC236}">
                <a16:creationId xmlns:a16="http://schemas.microsoft.com/office/drawing/2014/main" id="{E8F9620A-7B37-2787-0C61-0CB4A6519E3C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600075" y="5226050"/>
            <a:ext cx="3424238" cy="1101725"/>
          </a:xfrm>
        </p:spPr>
        <p:txBody>
          <a:bodyPr/>
          <a:lstStyle>
            <a:lvl1pPr marL="0" indent="0">
              <a:buNone/>
              <a:defRPr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sv-SE" dirty="0"/>
          </a:p>
        </p:txBody>
      </p:sp>
      <p:sp>
        <p:nvSpPr>
          <p:cNvPr id="7" name="Platshållare för bild 3">
            <a:extLst>
              <a:ext uri="{FF2B5EF4-FFF2-40B4-BE49-F238E27FC236}">
                <a16:creationId xmlns:a16="http://schemas.microsoft.com/office/drawing/2014/main" id="{10E5EDDF-D49C-48DD-C908-7043750473EF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4383881" y="1919288"/>
            <a:ext cx="3424238" cy="3092979"/>
          </a:xfrm>
        </p:spPr>
        <p:txBody>
          <a:bodyPr bIns="1044000" anchor="ctr"/>
          <a:lstStyle>
            <a:lvl1pPr marL="0" indent="0" algn="ctr">
              <a:buNone/>
              <a:defRPr/>
            </a:lvl1pPr>
          </a:lstStyle>
          <a:p>
            <a:r>
              <a:rPr lang="sv-SE" dirty="0" err="1"/>
              <a:t>Click</a:t>
            </a:r>
            <a:r>
              <a:rPr lang="sv-SE" dirty="0"/>
              <a:t> on the </a:t>
            </a:r>
            <a:r>
              <a:rPr lang="sv-SE" dirty="0" err="1"/>
              <a:t>icon</a:t>
            </a:r>
            <a:r>
              <a:rPr lang="sv-SE" dirty="0"/>
              <a:t> or </a:t>
            </a:r>
            <a:br>
              <a:rPr lang="sv-SE" dirty="0"/>
            </a:br>
            <a:r>
              <a:rPr lang="sv-SE" dirty="0"/>
              <a:t>drag and </a:t>
            </a:r>
            <a:r>
              <a:rPr lang="sv-SE" dirty="0" err="1"/>
              <a:t>drop</a:t>
            </a:r>
            <a:r>
              <a:rPr lang="sv-SE" dirty="0"/>
              <a:t> to </a:t>
            </a:r>
            <a:r>
              <a:rPr lang="sv-SE" dirty="0" err="1"/>
              <a:t>insert</a:t>
            </a:r>
            <a:r>
              <a:rPr lang="sv-SE" dirty="0"/>
              <a:t> an image</a:t>
            </a:r>
          </a:p>
        </p:txBody>
      </p:sp>
      <p:sp>
        <p:nvSpPr>
          <p:cNvPr id="11" name="Platshållare för text 3">
            <a:extLst>
              <a:ext uri="{FF2B5EF4-FFF2-40B4-BE49-F238E27FC236}">
                <a16:creationId xmlns:a16="http://schemas.microsoft.com/office/drawing/2014/main" id="{81E59C72-4325-9697-1B8F-6876044359F2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4383881" y="5226050"/>
            <a:ext cx="3424238" cy="1101725"/>
          </a:xfrm>
        </p:spPr>
        <p:txBody>
          <a:bodyPr/>
          <a:lstStyle>
            <a:lvl1pPr marL="0" indent="0">
              <a:buNone/>
              <a:defRPr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sv-SE" dirty="0"/>
          </a:p>
        </p:txBody>
      </p:sp>
      <p:sp>
        <p:nvSpPr>
          <p:cNvPr id="8" name="Platshållare för bild 4">
            <a:extLst>
              <a:ext uri="{FF2B5EF4-FFF2-40B4-BE49-F238E27FC236}">
                <a16:creationId xmlns:a16="http://schemas.microsoft.com/office/drawing/2014/main" id="{D890193F-9CCD-2775-F25C-FAC1CA41A744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8167687" y="1919288"/>
            <a:ext cx="3424238" cy="3092979"/>
          </a:xfrm>
        </p:spPr>
        <p:txBody>
          <a:bodyPr bIns="1044000" anchor="ctr"/>
          <a:lstStyle>
            <a:lvl1pPr marL="0" indent="0" algn="ctr">
              <a:buNone/>
              <a:defRPr/>
            </a:lvl1pPr>
          </a:lstStyle>
          <a:p>
            <a:r>
              <a:rPr lang="sv-SE" dirty="0" err="1"/>
              <a:t>Click</a:t>
            </a:r>
            <a:r>
              <a:rPr lang="sv-SE" dirty="0"/>
              <a:t> on the </a:t>
            </a:r>
            <a:r>
              <a:rPr lang="sv-SE" dirty="0" err="1"/>
              <a:t>icon</a:t>
            </a:r>
            <a:r>
              <a:rPr lang="sv-SE" dirty="0"/>
              <a:t> or </a:t>
            </a:r>
            <a:br>
              <a:rPr lang="sv-SE" dirty="0"/>
            </a:br>
            <a:r>
              <a:rPr lang="sv-SE" dirty="0"/>
              <a:t>drag and </a:t>
            </a:r>
            <a:r>
              <a:rPr lang="sv-SE" dirty="0" err="1"/>
              <a:t>drop</a:t>
            </a:r>
            <a:r>
              <a:rPr lang="sv-SE" dirty="0"/>
              <a:t> to </a:t>
            </a:r>
            <a:r>
              <a:rPr lang="sv-SE" dirty="0" err="1"/>
              <a:t>insert</a:t>
            </a:r>
            <a:r>
              <a:rPr lang="sv-SE" dirty="0"/>
              <a:t> an image</a:t>
            </a:r>
          </a:p>
        </p:txBody>
      </p:sp>
      <p:sp>
        <p:nvSpPr>
          <p:cNvPr id="12" name="Platshållare för text 4">
            <a:extLst>
              <a:ext uri="{FF2B5EF4-FFF2-40B4-BE49-F238E27FC236}">
                <a16:creationId xmlns:a16="http://schemas.microsoft.com/office/drawing/2014/main" id="{04B71E10-09CE-4F1F-5969-3DD959F0102C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8167687" y="5226050"/>
            <a:ext cx="3424238" cy="1101725"/>
          </a:xfrm>
        </p:spPr>
        <p:txBody>
          <a:bodyPr/>
          <a:lstStyle>
            <a:lvl1pPr marL="0" indent="0">
              <a:buNone/>
              <a:defRPr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sv-SE" dirty="0"/>
          </a:p>
        </p:txBody>
      </p:sp>
      <p:sp>
        <p:nvSpPr>
          <p:cNvPr id="3" name="Platshållare för datum 2">
            <a:extLst>
              <a:ext uri="{FF2B5EF4-FFF2-40B4-BE49-F238E27FC236}">
                <a16:creationId xmlns:a16="http://schemas.microsoft.com/office/drawing/2014/main" id="{9E441D1D-F64B-D03C-6A3E-4332F53C56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8E03F6-2D99-9C4F-8DF5-D169CFDD1A0C}" type="datetime1">
              <a:rPr lang="sv-SE" smtClean="0"/>
              <a:t>2026-10-06</a:t>
            </a:fld>
            <a:endParaRPr lang="sv-SE"/>
          </a:p>
        </p:txBody>
      </p:sp>
      <p:sp>
        <p:nvSpPr>
          <p:cNvPr id="4" name="Platshållare för sidfot 3">
            <a:extLst>
              <a:ext uri="{FF2B5EF4-FFF2-40B4-BE49-F238E27FC236}">
                <a16:creationId xmlns:a16="http://schemas.microsoft.com/office/drawing/2014/main" id="{D6B063F1-EBFF-649E-5CFE-AC74796105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sv-SE"/>
              <a:t>Presentation footer</a:t>
            </a:r>
          </a:p>
        </p:txBody>
      </p:sp>
      <p:sp>
        <p:nvSpPr>
          <p:cNvPr id="5" name="Platshållare för bildnummer 4">
            <a:extLst>
              <a:ext uri="{FF2B5EF4-FFF2-40B4-BE49-F238E27FC236}">
                <a16:creationId xmlns:a16="http://schemas.microsoft.com/office/drawing/2014/main" id="{BDA80FCC-5A03-2568-468F-2FC65324A4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16C8F4-20CD-364A-8A8E-DE130115B178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702957189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eadlin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ubrik 1">
            <a:extLst>
              <a:ext uri="{FF2B5EF4-FFF2-40B4-BE49-F238E27FC236}">
                <a16:creationId xmlns:a16="http://schemas.microsoft.com/office/drawing/2014/main" id="{D3B2E332-9225-25D1-EB2B-62418C5D49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sv-SE"/>
          </a:p>
        </p:txBody>
      </p:sp>
      <p:sp>
        <p:nvSpPr>
          <p:cNvPr id="3" name="Platshållare för datum 2">
            <a:extLst>
              <a:ext uri="{FF2B5EF4-FFF2-40B4-BE49-F238E27FC236}">
                <a16:creationId xmlns:a16="http://schemas.microsoft.com/office/drawing/2014/main" id="{2EF1EFA3-3FDF-1336-ED61-2DEDAA6F6B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332B6B-9A86-944B-B689-8453757791DF}" type="datetime1">
              <a:rPr lang="sv-SE" smtClean="0"/>
              <a:t>2026-10-06</a:t>
            </a:fld>
            <a:endParaRPr lang="sv-SE" dirty="0"/>
          </a:p>
        </p:txBody>
      </p:sp>
      <p:sp>
        <p:nvSpPr>
          <p:cNvPr id="4" name="Platshållare för sidfot 3">
            <a:extLst>
              <a:ext uri="{FF2B5EF4-FFF2-40B4-BE49-F238E27FC236}">
                <a16:creationId xmlns:a16="http://schemas.microsoft.com/office/drawing/2014/main" id="{580BEAC8-B518-E8B6-324C-4CC99EAFBF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sv-SE"/>
              <a:t>Presentation footer</a:t>
            </a:r>
            <a:endParaRPr lang="sv-SE" dirty="0"/>
          </a:p>
        </p:txBody>
      </p:sp>
      <p:sp>
        <p:nvSpPr>
          <p:cNvPr id="5" name="Platshållare för bildnummer 4">
            <a:extLst>
              <a:ext uri="{FF2B5EF4-FFF2-40B4-BE49-F238E27FC236}">
                <a16:creationId xmlns:a16="http://schemas.microsoft.com/office/drawing/2014/main" id="{0936D8FE-4DB7-B3B6-8840-02A9309F68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16C8F4-20CD-364A-8A8E-DE130115B178}" type="slidenum">
              <a:rPr lang="sv-SE" smtClean="0"/>
              <a:pPr/>
              <a:t>‹#›</a:t>
            </a:fld>
            <a:endParaRPr lang="sv-SE" dirty="0"/>
          </a:p>
        </p:txBody>
      </p:sp>
    </p:spTree>
    <p:extLst>
      <p:ext uri="{BB962C8B-B14F-4D97-AF65-F5344CB8AC3E}">
        <p14:creationId xmlns:p14="http://schemas.microsoft.com/office/powerpoint/2010/main" val="4012770710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pt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tshållare för datum 1">
            <a:extLst>
              <a:ext uri="{FF2B5EF4-FFF2-40B4-BE49-F238E27FC236}">
                <a16:creationId xmlns:a16="http://schemas.microsoft.com/office/drawing/2014/main" id="{CB35DBFB-5CDF-E32D-0562-6D92213809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8DDE6C-6786-8C48-9317-AF0776715ACF}" type="datetime1">
              <a:rPr lang="sv-SE" smtClean="0"/>
              <a:t>2026-10-06</a:t>
            </a:fld>
            <a:endParaRPr lang="sv-SE"/>
          </a:p>
        </p:txBody>
      </p:sp>
      <p:sp>
        <p:nvSpPr>
          <p:cNvPr id="3" name="Platshållare för sidfot 2">
            <a:extLst>
              <a:ext uri="{FF2B5EF4-FFF2-40B4-BE49-F238E27FC236}">
                <a16:creationId xmlns:a16="http://schemas.microsoft.com/office/drawing/2014/main" id="{9757DD51-31A9-0B97-878B-DC725BEF45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sv-SE"/>
              <a:t>Presentation footer</a:t>
            </a:r>
          </a:p>
        </p:txBody>
      </p:sp>
      <p:sp>
        <p:nvSpPr>
          <p:cNvPr id="4" name="Platshållare för bildnummer 3">
            <a:extLst>
              <a:ext uri="{FF2B5EF4-FFF2-40B4-BE49-F238E27FC236}">
                <a16:creationId xmlns:a16="http://schemas.microsoft.com/office/drawing/2014/main" id="{49810C51-F518-224E-FB91-8421FD7D68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16C8F4-20CD-364A-8A8E-DE130115B178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4134940099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10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19" Type="http://schemas.openxmlformats.org/officeDocument/2006/relationships/slideLayout" Target="../slideLayouts/slideLayout19.xml"/><Relationship Id="rId22" Type="http://schemas.openxmlformats.org/officeDocument/2006/relationships/slideLayout" Target="../slideLayouts/slideLayout22.xml"/><Relationship Id="rId28" Type="http://schemas.openxmlformats.org/officeDocument/2006/relationships/slideLayout" Target="../slideLayouts/slideLayout28.xml"/><Relationship Id="rId30" Type="http://schemas.openxmlformats.org/officeDocument/2006/relationships/slideLayout" Target="../slideLayouts/slideLayout30.xml"/><Relationship Id="rId32" Type="http://schemas.openxmlformats.org/officeDocument/2006/relationships/slideLayout" Target="../slideLayouts/slideLayout32.xml"/><Relationship Id="rId35" Type="http://schemas.openxmlformats.org/officeDocument/2006/relationships/slideLayout" Target="../slideLayouts/slideLayout35.xml"/><Relationship Id="rId40" Type="http://schemas.openxmlformats.org/officeDocument/2006/relationships/slideLayout" Target="../slideLayouts/slideLayout40.xml"/><Relationship Id="rId48" Type="http://schemas.openxmlformats.org/officeDocument/2006/relationships/theme" Target="../theme/theme1.xml"/><Relationship Id="rId49" Type="http://schemas.openxmlformats.org/officeDocument/2006/relationships/image" Target="../media/image1.sv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tshållare för rubrik 1">
            <a:extLst>
              <a:ext uri="{FF2B5EF4-FFF2-40B4-BE49-F238E27FC236}">
                <a16:creationId xmlns:a16="http://schemas.microsoft.com/office/drawing/2014/main" id="{220414E7-5508-776E-6BBC-4EE5048095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0075" y="1095632"/>
            <a:ext cx="10990263" cy="568412"/>
          </a:xfrm>
          <a:prstGeom prst="rect">
            <a:avLst/>
          </a:prstGeom>
        </p:spPr>
        <p:txBody>
          <a:bodyPr vert="horz" lIns="91440" tIns="108000" rIns="91440" bIns="45720" rtlCol="0" anchor="t">
            <a:noAutofit/>
          </a:bodyPr>
          <a:lstStyle/>
          <a:p>
            <a:r>
              <a:rPr lang="sv-SE" dirty="0"/>
              <a:t>Klicka här för att ändra mall för rubrikformat</a:t>
            </a:r>
          </a:p>
        </p:txBody>
      </p:sp>
      <p:sp>
        <p:nvSpPr>
          <p:cNvPr id="3" name="Platshållare för text 2">
            <a:extLst>
              <a:ext uri="{FF2B5EF4-FFF2-40B4-BE49-F238E27FC236}">
                <a16:creationId xmlns:a16="http://schemas.microsoft.com/office/drawing/2014/main" id="{2006EF76-9662-2CD9-346E-23511E80473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00075" y="1872344"/>
            <a:ext cx="10990263" cy="445380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lvl="0"/>
            <a:r>
              <a:rPr lang="sv-SE" dirty="0"/>
              <a:t>Klicka här för att ändra format på bakgrundstexten</a:t>
            </a:r>
          </a:p>
          <a:p>
            <a:pPr lvl="1"/>
            <a:r>
              <a:rPr lang="sv-SE" dirty="0"/>
              <a:t>Nivå två</a:t>
            </a:r>
          </a:p>
          <a:p>
            <a:pPr lvl="2"/>
            <a:r>
              <a:rPr lang="sv-SE" dirty="0"/>
              <a:t>Nivå tre</a:t>
            </a:r>
          </a:p>
          <a:p>
            <a:pPr lvl="3"/>
            <a:r>
              <a:rPr lang="sv-SE" dirty="0"/>
              <a:t>Nivå fyra</a:t>
            </a:r>
          </a:p>
          <a:p>
            <a:pPr lvl="4"/>
            <a:r>
              <a:rPr lang="sv-SE" dirty="0"/>
              <a:t>Nivå fem</a:t>
            </a:r>
          </a:p>
        </p:txBody>
      </p:sp>
      <p:sp>
        <p:nvSpPr>
          <p:cNvPr id="4" name="Platshållare för datum 3">
            <a:extLst>
              <a:ext uri="{FF2B5EF4-FFF2-40B4-BE49-F238E27FC236}">
                <a16:creationId xmlns:a16="http://schemas.microsoft.com/office/drawing/2014/main" id="{5E3A2378-EA0B-2CB0-A3C0-B0181DFC31C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00075" y="6473327"/>
            <a:ext cx="2743200" cy="9477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00">
                <a:solidFill>
                  <a:schemeClr val="accent2"/>
                </a:solidFill>
              </a:defRPr>
            </a:lvl1pPr>
          </a:lstStyle>
          <a:p>
            <a:fld id="{888E4D63-BE2C-4D4B-BBD2-256262659A9F}" type="datetime1">
              <a:rPr lang="sv-SE" smtClean="0"/>
              <a:t>2026-10-06</a:t>
            </a:fld>
            <a:endParaRPr lang="sv-SE" dirty="0"/>
          </a:p>
        </p:txBody>
      </p:sp>
      <p:sp>
        <p:nvSpPr>
          <p:cNvPr id="5" name="Platshållare för sidfot 4">
            <a:extLst>
              <a:ext uri="{FF2B5EF4-FFF2-40B4-BE49-F238E27FC236}">
                <a16:creationId xmlns:a16="http://schemas.microsoft.com/office/drawing/2014/main" id="{24CA2E8D-AD94-B894-C4F1-B88C763BA32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7805" y="6470364"/>
            <a:ext cx="4114800" cy="977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00">
                <a:solidFill>
                  <a:schemeClr val="accent2"/>
                </a:solidFill>
              </a:defRPr>
            </a:lvl1pPr>
          </a:lstStyle>
          <a:p>
            <a:r>
              <a:rPr lang="sv-SE"/>
              <a:t>Presentation footer</a:t>
            </a:r>
            <a:endParaRPr lang="sv-SE" dirty="0"/>
          </a:p>
        </p:txBody>
      </p:sp>
      <p:sp>
        <p:nvSpPr>
          <p:cNvPr id="6" name="Platshållare för bildnummer 5">
            <a:extLst>
              <a:ext uri="{FF2B5EF4-FFF2-40B4-BE49-F238E27FC236}">
                <a16:creationId xmlns:a16="http://schemas.microsoft.com/office/drawing/2014/main" id="{045617BD-973D-B163-E4ED-D245FDF0BDF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848725" y="6473328"/>
            <a:ext cx="2743200" cy="9477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700">
                <a:solidFill>
                  <a:schemeClr val="accent2"/>
                </a:solidFill>
              </a:defRPr>
            </a:lvl1pPr>
          </a:lstStyle>
          <a:p>
            <a:fld id="{B716C8F4-20CD-364A-8A8E-DE130115B178}" type="slidenum">
              <a:rPr lang="sv-SE" smtClean="0"/>
              <a:pPr/>
              <a:t>‹#›</a:t>
            </a:fld>
            <a:endParaRPr lang="sv-SE" dirty="0"/>
          </a:p>
        </p:txBody>
      </p:sp>
      <p:pic>
        <p:nvPicPr>
          <p:cNvPr id="11" name="Bild 10">
            <a:extLst>
              <a:ext uri="{FF2B5EF4-FFF2-40B4-BE49-F238E27FC236}">
                <a16:creationId xmlns:a16="http://schemas.microsoft.com/office/drawing/2014/main" id="{57E3D58E-4C99-E6D1-B925-E182668FA2E3}"/>
              </a:ext>
            </a:extLst>
          </p:cNvPr>
          <p:cNvPicPr>
            <a:picLocks noChangeAspect="1"/>
          </p:cNvPicPr>
          <p:nvPr userDrawn="1"/>
        </p:nvPicPr>
        <p:blipFill>
          <a:blip cstate="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9"/>
              </a:ext>
            </a:extLst>
          </a:blip>
          <a:stretch>
            <a:fillRect/>
          </a:stretch>
        </p:blipFill>
        <p:spPr>
          <a:xfrm>
            <a:off x="193566" y="164552"/>
            <a:ext cx="714243" cy="7992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836845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62" r:id="rId10"/>
    <p:sldLayoutId id="2147483650" r:id="rId12"/>
    <p:sldLayoutId id="2147483652" r:id="rId17"/>
    <p:sldLayoutId id="2147483656" r:id="rId19"/>
    <p:sldLayoutId id="2147483694" r:id="rId22"/>
    <p:sldLayoutId id="2147483676" r:id="rId28"/>
    <p:sldLayoutId id="2147483678" r:id="rId30"/>
    <p:sldLayoutId id="2147483668" r:id="rId32"/>
    <p:sldLayoutId id="2147483666" r:id="rId35"/>
    <p:sldLayoutId id="2147483655" r:id="rId40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b="1" kern="120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Clr>
          <a:schemeClr val="accent1"/>
        </a:buClr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Clr>
          <a:schemeClr val="accent1"/>
        </a:buClr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Clr>
          <a:schemeClr val="accent1"/>
        </a:buClr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Clr>
          <a:schemeClr val="accent1"/>
        </a:buClr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Clr>
          <a:schemeClr val="accent1"/>
        </a:buClr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sv-S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userDrawn="1">
          <p15:clr>
            <a:srgbClr val="F26B43"/>
          </p15:clr>
        </p15:guide>
        <p15:guide id="2" pos="7680" userDrawn="1">
          <p15:clr>
            <a:srgbClr val="F26B43"/>
          </p15:clr>
        </p15:guide>
        <p15:guide id="3" pos="378" userDrawn="1">
          <p15:clr>
            <a:srgbClr val="F26B43"/>
          </p15:clr>
        </p15:guide>
        <p15:guide id="4" pos="1343" userDrawn="1">
          <p15:clr>
            <a:srgbClr val="F26B43"/>
          </p15:clr>
        </p15:guide>
        <p15:guide id="5" pos="1570" userDrawn="1">
          <p15:clr>
            <a:srgbClr val="F26B43"/>
          </p15:clr>
        </p15:guide>
        <p15:guide id="6" pos="2535" userDrawn="1">
          <p15:clr>
            <a:srgbClr val="F26B43"/>
          </p15:clr>
        </p15:guide>
        <p15:guide id="7" pos="2761" userDrawn="1">
          <p15:clr>
            <a:srgbClr val="F26B43"/>
          </p15:clr>
        </p15:guide>
        <p15:guide id="8" pos="3726" userDrawn="1">
          <p15:clr>
            <a:srgbClr val="F26B43"/>
          </p15:clr>
        </p15:guide>
        <p15:guide id="9" pos="3953" userDrawn="1">
          <p15:clr>
            <a:srgbClr val="F26B43"/>
          </p15:clr>
        </p15:guide>
        <p15:guide id="10" pos="4918" userDrawn="1">
          <p15:clr>
            <a:srgbClr val="F26B43"/>
          </p15:clr>
        </p15:guide>
        <p15:guide id="11" pos="5144" userDrawn="1">
          <p15:clr>
            <a:srgbClr val="F26B43"/>
          </p15:clr>
        </p15:guide>
        <p15:guide id="12" pos="6109" userDrawn="1">
          <p15:clr>
            <a:srgbClr val="F26B43"/>
          </p15:clr>
        </p15:guide>
        <p15:guide id="13" pos="6336" userDrawn="1">
          <p15:clr>
            <a:srgbClr val="F26B43"/>
          </p15:clr>
        </p15:guide>
        <p15:guide id="14" pos="7301" userDrawn="1">
          <p15:clr>
            <a:srgbClr val="F26B43"/>
          </p15:clr>
        </p15:guide>
        <p15:guide id="15" orient="horz" userDrawn="1">
          <p15:clr>
            <a:srgbClr val="F26B43"/>
          </p15:clr>
        </p15:guide>
        <p15:guide id="16" orient="horz" pos="4320" userDrawn="1">
          <p15:clr>
            <a:srgbClr val="F26B43"/>
          </p15:clr>
        </p15:guide>
        <p15:guide id="17" orient="horz" pos="514" userDrawn="1">
          <p15:clr>
            <a:srgbClr val="F26B43"/>
          </p15:clr>
        </p15:guide>
        <p15:guide id="18" orient="horz" pos="861" userDrawn="1">
          <p15:clr>
            <a:srgbClr val="F26B43"/>
          </p15:clr>
        </p15:guide>
        <p15:guide id="19" orient="horz" pos="1209" userDrawn="1">
          <p15:clr>
            <a:srgbClr val="F26B43"/>
          </p15:clr>
        </p15:guide>
        <p15:guide id="20" orient="horz" pos="1570" userDrawn="1">
          <p15:clr>
            <a:srgbClr val="F26B43"/>
          </p15:clr>
        </p15:guide>
        <p15:guide id="21" orient="horz" pos="1903" userDrawn="1">
          <p15:clr>
            <a:srgbClr val="F26B43"/>
          </p15:clr>
        </p15:guide>
        <p15:guide id="22" orient="horz" pos="2250" userDrawn="1">
          <p15:clr>
            <a:srgbClr val="F26B43"/>
          </p15:clr>
        </p15:guide>
        <p15:guide id="23" orient="horz" pos="2597" userDrawn="1">
          <p15:clr>
            <a:srgbClr val="F26B43"/>
          </p15:clr>
        </p15:guide>
        <p15:guide id="24" orient="horz" pos="2945" userDrawn="1">
          <p15:clr>
            <a:srgbClr val="F26B43"/>
          </p15:clr>
        </p15:guide>
        <p15:guide id="25" orient="horz" pos="3292" userDrawn="1">
          <p15:clr>
            <a:srgbClr val="F26B43"/>
          </p15:clr>
        </p15:guide>
        <p15:guide id="26" orient="horz" pos="3639" userDrawn="1">
          <p15:clr>
            <a:srgbClr val="F26B43"/>
          </p15:clr>
        </p15:guide>
        <p15:guide id="27" orient="horz" pos="3986" userDrawn="1">
          <p15:clr>
            <a:srgbClr val="F26B43"/>
          </p15:clr>
        </p15:guide>
      </p15:sldGuideLst>
    </p:ext>
  </p:extLst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0.xml"/><Relationship Id="rId2" Type="http://schemas.openxmlformats.org/officeDocument/2006/relationships/image" Target="../media/image21.jpg"/><Relationship Id="rId3" Type="http://schemas.openxmlformats.org/officeDocument/2006/relationships/image" Target="../media/image22.png"/><Relationship Id="rId4" Type="http://schemas.openxmlformats.org/officeDocument/2006/relationships/image" Target="../media/image23.png"/><Relationship Id="rId5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image" Target="../media/image24.jpg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5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image" Target="../media/image25.jp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2.xml"/><Relationship Id="rId2" Type="http://schemas.openxmlformats.org/officeDocument/2006/relationships/image" Target="../media/image24.jpg"/><Relationship Id="rId3" Type="http://schemas.openxmlformats.org/officeDocument/2006/relationships/image" Target="../media/image26.jpg"/><Relationship Id="rId4" Type="http://schemas.openxmlformats.org/officeDocument/2006/relationships/image" Target="../media/image27.png"/><Relationship Id="rId5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8.xml"/><Relationship Id="rId2" Type="http://schemas.openxmlformats.org/officeDocument/2006/relationships/image" Target="../media/image28.jpg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0.xml"/><Relationship Id="rId2" Type="http://schemas.openxmlformats.org/officeDocument/2006/relationships/image" Target="../media/image21.jpg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5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0.xml"/><Relationship Id="rId2" Type="http://schemas.openxmlformats.org/officeDocument/2006/relationships/image" Target="../media/image29.jpg"/><Relationship Id="rId3" Type="http://schemas.openxmlformats.org/officeDocument/2006/relationships/image" Target="../media/image30.jp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8.xml"/><Relationship Id="rId2" Type="http://schemas.openxmlformats.org/officeDocument/2006/relationships/image" Target="../media/image31.jpg"/><Relationship Id="rId3" Type="http://schemas.openxmlformats.org/officeDocument/2006/relationships/notesSlide" Target="../notesSlides/notesSlide10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5.xml"/><Relationship Id="rId2" Type="http://schemas.openxmlformats.org/officeDocument/2006/relationships/notesSlide" Target="../notesSlides/notesSlide11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2.xml"/><Relationship Id="rId2" Type="http://schemas.openxmlformats.org/officeDocument/2006/relationships/image" Target="../media/image32.jpg"/><Relationship Id="rId3" Type="http://schemas.openxmlformats.org/officeDocument/2006/relationships/image" Target="../media/image33.png"/><Relationship Id="rId4" Type="http://schemas.openxmlformats.org/officeDocument/2006/relationships/image" Target="../media/image34.png"/><Relationship Id="rId5" Type="http://schemas.openxmlformats.org/officeDocument/2006/relationships/notesSlide" Target="../notesSlides/notesSlide1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0.xml"/><Relationship Id="rId2" Type="http://schemas.openxmlformats.org/officeDocument/2006/relationships/image" Target="../media/image35.png"/><Relationship Id="rId3" Type="http://schemas.openxmlformats.org/officeDocument/2006/relationships/image" Target="../media/image26.jp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5.xml"/><Relationship Id="rId2" Type="http://schemas.openxmlformats.org/officeDocument/2006/relationships/image" Target="../media/image36.png"/><Relationship Id="rId3" Type="http://schemas.openxmlformats.org/officeDocument/2006/relationships/image" Target="../media/image37.png"/><Relationship Id="rId4" Type="http://schemas.openxmlformats.org/officeDocument/2006/relationships/notesSlide" Target="../notesSlides/notesSlide13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5.xml"/><Relationship Id="rId2" Type="http://schemas.openxmlformats.org/officeDocument/2006/relationships/image" Target="../media/image38.png"/><Relationship Id="rId3" Type="http://schemas.openxmlformats.org/officeDocument/2006/relationships/image" Target="../media/image39.png"/><Relationship Id="rId4" Type="http://schemas.openxmlformats.org/officeDocument/2006/relationships/image" Target="../media/image40.png"/><Relationship Id="rId5" Type="http://schemas.openxmlformats.org/officeDocument/2006/relationships/image" Target="../media/image41.png"/><Relationship Id="rId6" Type="http://schemas.openxmlformats.org/officeDocument/2006/relationships/notesSlide" Target="../notesSlides/notesSlide14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5.xml"/><Relationship Id="rId2" Type="http://schemas.openxmlformats.org/officeDocument/2006/relationships/image" Target="../media/image42.png"/><Relationship Id="rId3" Type="http://schemas.openxmlformats.org/officeDocument/2006/relationships/image" Target="../media/image43.png"/><Relationship Id="rId4" Type="http://schemas.openxmlformats.org/officeDocument/2006/relationships/notesSlide" Target="../notesSlides/notesSlide15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5.xml"/><Relationship Id="rId2" Type="http://schemas.openxmlformats.org/officeDocument/2006/relationships/image" Target="../media/image44.png"/><Relationship Id="rId3" Type="http://schemas.openxmlformats.org/officeDocument/2006/relationships/image" Target="../media/image45.png"/><Relationship Id="rId4" Type="http://schemas.openxmlformats.org/officeDocument/2006/relationships/notesSlide" Target="../notesSlides/notesSlide16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5.xml"/><Relationship Id="rId2" Type="http://schemas.openxmlformats.org/officeDocument/2006/relationships/chart" Target="../charts/chart1.xml"/><Relationship Id="rId3" Type="http://schemas.openxmlformats.org/officeDocument/2006/relationships/notesSlide" Target="../notesSlides/notesSlide1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5.xml"/><Relationship Id="rId2" Type="http://schemas.openxmlformats.org/officeDocument/2006/relationships/image" Target="../media/image46.png"/><Relationship Id="rId3" Type="http://schemas.openxmlformats.org/officeDocument/2006/relationships/image" Target="../media/image47.png"/><Relationship Id="rId4" Type="http://schemas.openxmlformats.org/officeDocument/2006/relationships/notesSlide" Target="../notesSlides/notesSlide18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5.xml"/><Relationship Id="rId2" Type="http://schemas.openxmlformats.org/officeDocument/2006/relationships/image" Target="../media/image48.png"/><Relationship Id="rId3" Type="http://schemas.openxmlformats.org/officeDocument/2006/relationships/image" Target="../media/image49.png"/><Relationship Id="rId4" Type="http://schemas.openxmlformats.org/officeDocument/2006/relationships/notesSlide" Target="../notesSlides/notesSlide19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5.xml"/><Relationship Id="rId2" Type="http://schemas.openxmlformats.org/officeDocument/2006/relationships/image" Target="../media/image50.png"/><Relationship Id="rId3" Type="http://schemas.openxmlformats.org/officeDocument/2006/relationships/image" Target="../media/image51.png"/><Relationship Id="rId4" Type="http://schemas.openxmlformats.org/officeDocument/2006/relationships/notesSlide" Target="../notesSlides/notesSlide20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5.xml"/><Relationship Id="rId2" Type="http://schemas.openxmlformats.org/officeDocument/2006/relationships/notesSlide" Target="../notesSlides/notesSlide21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22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image" Target="../media/image52.png"/><Relationship Id="rId3" Type="http://schemas.openxmlformats.org/officeDocument/2006/relationships/image" Target="../media/image22.png"/><Relationship Id="rId4" Type="http://schemas.openxmlformats.org/officeDocument/2006/relationships/image" Target="../media/image23.png"/><Relationship Id="rId5" Type="http://schemas.openxmlformats.org/officeDocument/2006/relationships/notesSlide" Target="../notesSlides/notesSlide23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34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7828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0061">
              <a:alpha val="5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011680"/>
            <a:ext cx="10698480" cy="1645920"/>
          </a:xfrm>
          <a:prstGeom prst="rect">
            <a:avLst/>
          </a:prstGeom>
          <a:noFill/>
        </p:spPr>
        <p:txBody>
          <a:bodyPr wrap="square" lIns="45720" rIns="45720" tIns="27432" bIns="27432" anchor="b">
            <a:spAutoFit/>
          </a:bodyPr>
          <a:lstStyle/>
          <a:p>
            <a:pPr>
              <a:spcAft>
                <a:spcPts val="400"/>
              </a:spcAft>
            </a:pPr>
            <a:r>
              <a:rPr sz="4800" b="1">
                <a:solidFill>
                  <a:srgbClr val="FFFFFF"/>
                </a:solidFill>
                <a:latin typeface="Arial"/>
              </a:rPr>
              <a:t>Το μυαλό του αρχιτέκτονα σε τροχιά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703320"/>
            <a:ext cx="10698480" cy="64008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>
              <a:spcAft>
                <a:spcPts val="400"/>
              </a:spcAft>
            </a:pPr>
            <a:r>
              <a:rPr sz="2000">
                <a:solidFill>
                  <a:srgbClr val="FFFFFF"/>
                </a:solidFill>
                <a:latin typeface="Arial"/>
              </a:rPr>
              <a:t>Πώς ο σχεδιασμός του διαστημικού σταθμού διαμορφώνει το μυαλό του πληρώματος — και πώς το μετράμε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4343400"/>
            <a:ext cx="10698480" cy="45720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>
              <a:spcAft>
                <a:spcPts val="400"/>
              </a:spcAft>
            </a:pPr>
            <a:r>
              <a:rPr sz="1400">
                <a:solidFill>
                  <a:srgbClr val="DEF0FF"/>
                </a:solidFill>
                <a:latin typeface="Arial"/>
              </a:rPr>
              <a:t>Εργαστήριο για την τάξη · Orbital Architecture · KTH Βασιλικό Ινστιτούτο Τεχνολογίας &amp; ESERO Σουηδίας</a:t>
            </a:r>
          </a:p>
        </p:txBody>
      </p:sp>
      <p:pic>
        <p:nvPicPr>
          <p:cNvPr id="7" name="Picture 6" descr="esero-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5760720"/>
            <a:ext cx="1591056" cy="640080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2606040" y="5687568"/>
            <a:ext cx="914400" cy="786384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image16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97480" y="5724144"/>
            <a:ext cx="636522" cy="713232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9052560" y="6446520"/>
            <a:ext cx="3017520" cy="27432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>
              <a:spcAft>
                <a:spcPts val="400"/>
              </a:spcAft>
            </a:pPr>
            <a:r>
              <a:rPr sz="900">
                <a:solidFill>
                  <a:srgbClr val="DEF0FF"/>
                </a:solidFill>
                <a:latin typeface="Arial"/>
              </a:rPr>
              <a:t>© ESA – M. Wandt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>
                <a:latin typeface="Arial"/>
              </a:rPr>
              <a:t>Τι είναι διαστημικός σταθμός;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>
              <a:spcAft>
                <a:spcPts val="1000"/>
              </a:spcAft>
            </a:pPr>
            <a:r>
              <a:rPr sz="1800">
                <a:latin typeface="Arial"/>
              </a:rPr>
              <a:t>Ένα διαστημόπλοιο που παραμένει σε τροχιά, ώστε τα πληρώματα να </a:t>
            </a:r>
            <a:r>
              <a:rPr b="1" sz="1800">
                <a:latin typeface="Arial"/>
              </a:rPr>
              <a:t>ζουν και να εργάζονται</a:t>
            </a:r>
            <a:r>
              <a:rPr sz="1800">
                <a:latin typeface="Arial"/>
              </a:rPr>
              <a:t> εκεί για εβδομάδες έως μήνες</a:t>
            </a:r>
          </a:p>
          <a:p>
            <a:pPr>
              <a:spcAft>
                <a:spcPts val="1000"/>
              </a:spcAft>
            </a:pPr>
            <a:r>
              <a:rPr sz="1800">
                <a:latin typeface="Arial"/>
              </a:rPr>
              <a:t>Σπίτι </a:t>
            </a:r>
            <a:r>
              <a:rPr b="1" sz="1800">
                <a:latin typeface="Arial"/>
              </a:rPr>
              <a:t>και</a:t>
            </a:r>
            <a:r>
              <a:rPr sz="1800">
                <a:latin typeface="Arial"/>
              </a:rPr>
              <a:t> χώρος εργασίας — το πλήρωμα ζει με τον σχεδιασμό κάθε ώρα της ημέρας</a:t>
            </a:r>
          </a:p>
          <a:p>
            <a:pPr>
              <a:spcAft>
                <a:spcPts val="1000"/>
              </a:spcAft>
            </a:pPr>
            <a:r>
              <a:rPr sz="1800">
                <a:latin typeface="Arial"/>
              </a:rPr>
              <a:t>Πρώτο πλήρωμα σταθμού (Salyut 1, 1971): 24 ημέρες · πληρώματα του ISS σήμερα: περίπου 6 μήνες</a:t>
            </a:r>
          </a:p>
        </p:txBody>
      </p:sp>
      <p:pic>
        <p:nvPicPr>
          <p:cNvPr id="4" name="Picture Placeholder 3" descr="image44.jpg"/>
          <p:cNvPicPr>
            <a:picLocks noGrp="1" noChangeAspect="1"/>
          </p:cNvPicPr>
          <p:nvPr>
            <p:ph type="pic" idx="13" sz="quarter"/>
          </p:nvPr>
        </p:nvPicPr>
        <p:blipFill>
          <a:blip r:embed="rId2"/>
          <a:srcRect l="20378" r="20378"/>
          <a:stretch>
            <a:fillRect/>
          </a:stretch>
        </p:blipFill>
        <p:spPr/>
      </p:pic>
      <p:sp>
        <p:nvSpPr>
          <p:cNvPr id="5" name="TextBox 4"/>
          <p:cNvSpPr txBox="1"/>
          <p:nvPr/>
        </p:nvSpPr>
        <p:spPr>
          <a:xfrm>
            <a:off x="6217920" y="6446520"/>
            <a:ext cx="5486400" cy="27432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>
              <a:spcAft>
                <a:spcPts val="400"/>
              </a:spcAft>
            </a:pPr>
            <a:r>
              <a:rPr sz="900">
                <a:solidFill>
                  <a:srgbClr val="FFFFFF"/>
                </a:solidFill>
                <a:latin typeface="Arial"/>
              </a:rPr>
              <a:t>© NASA / SpaceX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latin typeface="Arial"/>
              </a:rPr>
              <a:t>Σύντομη ιστορία των διαστημικών σταθμών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822959" y="3840480"/>
            <a:ext cx="10607041" cy="0"/>
          </a:xfrm>
          <a:prstGeom prst="line">
            <a:avLst/>
          </a:prstGeom>
          <a:ln w="38100">
            <a:solidFill>
              <a:srgbClr val="004791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Oval 3"/>
          <p:cNvSpPr/>
          <p:nvPr/>
        </p:nvSpPr>
        <p:spPr>
          <a:xfrm>
            <a:off x="896112" y="3639312"/>
            <a:ext cx="402336" cy="402336"/>
          </a:xfrm>
          <a:prstGeom prst="ellipse">
            <a:avLst/>
          </a:prstGeom>
          <a:solidFill>
            <a:srgbClr val="0047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" y="2103120"/>
            <a:ext cx="2103120" cy="50292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ctr">
              <a:spcAft>
                <a:spcPts val="400"/>
              </a:spcAft>
            </a:pPr>
            <a:r>
              <a:rPr b="1" sz="2000">
                <a:solidFill>
                  <a:srgbClr val="000061"/>
                </a:solidFill>
                <a:latin typeface="Arial"/>
              </a:rPr>
              <a:t>Salyut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" y="2560320"/>
            <a:ext cx="2103120" cy="41148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ctr">
              <a:spcAft>
                <a:spcPts val="400"/>
              </a:spcAft>
            </a:pPr>
            <a:r>
              <a:rPr sz="1600">
                <a:solidFill>
                  <a:srgbClr val="004791"/>
                </a:solidFill>
                <a:latin typeface="Arial"/>
              </a:rPr>
              <a:t>1971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" y="2926080"/>
            <a:ext cx="2103120" cy="45720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>
                <a:solidFill>
                  <a:srgbClr val="555F6B"/>
                </a:solidFill>
                <a:latin typeface="Arial"/>
              </a:rPr>
              <a:t>ΕΣΣΔ</a:t>
            </a:r>
          </a:p>
        </p:txBody>
      </p:sp>
      <p:sp>
        <p:nvSpPr>
          <p:cNvPr id="8" name="Oval 7"/>
          <p:cNvSpPr/>
          <p:nvPr/>
        </p:nvSpPr>
        <p:spPr>
          <a:xfrm>
            <a:off x="3387851" y="3639312"/>
            <a:ext cx="402336" cy="402336"/>
          </a:xfrm>
          <a:prstGeom prst="ellipse">
            <a:avLst/>
          </a:prstGeom>
          <a:solidFill>
            <a:srgbClr val="0000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537460" y="4251960"/>
            <a:ext cx="2103120" cy="50292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ctr">
              <a:spcAft>
                <a:spcPts val="400"/>
              </a:spcAft>
            </a:pPr>
            <a:r>
              <a:rPr b="1" sz="2000">
                <a:solidFill>
                  <a:srgbClr val="000061"/>
                </a:solidFill>
                <a:latin typeface="Arial"/>
              </a:rPr>
              <a:t>Skylab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537460" y="4709160"/>
            <a:ext cx="2103120" cy="41148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ctr">
              <a:spcAft>
                <a:spcPts val="400"/>
              </a:spcAft>
            </a:pPr>
            <a:r>
              <a:rPr sz="1600">
                <a:solidFill>
                  <a:srgbClr val="004791"/>
                </a:solidFill>
                <a:latin typeface="Arial"/>
              </a:rPr>
              <a:t>1973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537460" y="5074920"/>
            <a:ext cx="2103120" cy="45720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>
                <a:solidFill>
                  <a:srgbClr val="555F6B"/>
                </a:solidFill>
                <a:latin typeface="Arial"/>
              </a:rPr>
              <a:t>ΗΠΑ</a:t>
            </a:r>
          </a:p>
        </p:txBody>
      </p:sp>
      <p:sp>
        <p:nvSpPr>
          <p:cNvPr id="12" name="Oval 11"/>
          <p:cNvSpPr/>
          <p:nvPr/>
        </p:nvSpPr>
        <p:spPr>
          <a:xfrm>
            <a:off x="5879592" y="3639312"/>
            <a:ext cx="402336" cy="402336"/>
          </a:xfrm>
          <a:prstGeom prst="ellipse">
            <a:avLst/>
          </a:prstGeom>
          <a:solidFill>
            <a:srgbClr val="0047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029200" y="2103120"/>
            <a:ext cx="2103120" cy="50292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ctr">
              <a:spcAft>
                <a:spcPts val="400"/>
              </a:spcAft>
            </a:pPr>
            <a:r>
              <a:rPr b="1" sz="2000">
                <a:solidFill>
                  <a:srgbClr val="000061"/>
                </a:solidFill>
                <a:latin typeface="Arial"/>
              </a:rPr>
              <a:t>Mir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0" y="2560320"/>
            <a:ext cx="2103120" cy="41148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ctr">
              <a:spcAft>
                <a:spcPts val="400"/>
              </a:spcAft>
            </a:pPr>
            <a:r>
              <a:rPr sz="1600">
                <a:solidFill>
                  <a:srgbClr val="004791"/>
                </a:solidFill>
                <a:latin typeface="Arial"/>
              </a:rPr>
              <a:t>1986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0" y="2926080"/>
            <a:ext cx="2103120" cy="45720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>
                <a:solidFill>
                  <a:srgbClr val="555F6B"/>
                </a:solidFill>
                <a:latin typeface="Arial"/>
              </a:rPr>
              <a:t>ΕΣΣΔ / Ρωσία</a:t>
            </a:r>
          </a:p>
        </p:txBody>
      </p:sp>
      <p:sp>
        <p:nvSpPr>
          <p:cNvPr id="16" name="Oval 15"/>
          <p:cNvSpPr/>
          <p:nvPr/>
        </p:nvSpPr>
        <p:spPr>
          <a:xfrm>
            <a:off x="8371331" y="3639312"/>
            <a:ext cx="402336" cy="402336"/>
          </a:xfrm>
          <a:prstGeom prst="ellipse">
            <a:avLst/>
          </a:prstGeom>
          <a:solidFill>
            <a:srgbClr val="0000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520940" y="4251960"/>
            <a:ext cx="2103120" cy="50292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ctr">
              <a:spcAft>
                <a:spcPts val="400"/>
              </a:spcAft>
            </a:pPr>
            <a:r>
              <a:rPr b="1" sz="2000">
                <a:solidFill>
                  <a:srgbClr val="000061"/>
                </a:solidFill>
                <a:latin typeface="Arial"/>
              </a:rPr>
              <a:t>ISS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520940" y="4709160"/>
            <a:ext cx="2103120" cy="41148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ctr">
              <a:spcAft>
                <a:spcPts val="400"/>
              </a:spcAft>
            </a:pPr>
            <a:r>
              <a:rPr sz="1600">
                <a:solidFill>
                  <a:srgbClr val="004791"/>
                </a:solidFill>
                <a:latin typeface="Arial"/>
              </a:rPr>
              <a:t>1998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520940" y="5074920"/>
            <a:ext cx="2103120" cy="45720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>
                <a:solidFill>
                  <a:srgbClr val="555F6B"/>
                </a:solidFill>
                <a:latin typeface="Arial"/>
              </a:rPr>
              <a:t>διεθνής</a:t>
            </a:r>
          </a:p>
        </p:txBody>
      </p:sp>
      <p:sp>
        <p:nvSpPr>
          <p:cNvPr id="20" name="Oval 19"/>
          <p:cNvSpPr/>
          <p:nvPr/>
        </p:nvSpPr>
        <p:spPr>
          <a:xfrm>
            <a:off x="10863072" y="3639312"/>
            <a:ext cx="402336" cy="402336"/>
          </a:xfrm>
          <a:prstGeom prst="ellipse">
            <a:avLst/>
          </a:prstGeom>
          <a:solidFill>
            <a:srgbClr val="0047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012680" y="2103120"/>
            <a:ext cx="2103120" cy="50292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ctr">
              <a:spcAft>
                <a:spcPts val="400"/>
              </a:spcAft>
            </a:pPr>
            <a:r>
              <a:rPr b="1" sz="2000">
                <a:solidFill>
                  <a:srgbClr val="000061"/>
                </a:solidFill>
                <a:latin typeface="Arial"/>
              </a:rPr>
              <a:t>Tiangong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012680" y="2560320"/>
            <a:ext cx="2103120" cy="41148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ctr">
              <a:spcAft>
                <a:spcPts val="400"/>
              </a:spcAft>
            </a:pPr>
            <a:r>
              <a:rPr sz="1600">
                <a:solidFill>
                  <a:srgbClr val="004791"/>
                </a:solidFill>
                <a:latin typeface="Arial"/>
              </a:rPr>
              <a:t>2021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012680" y="2926080"/>
            <a:ext cx="2103120" cy="45720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>
                <a:solidFill>
                  <a:srgbClr val="555F6B"/>
                </a:solidFill>
                <a:latin typeface="Arial"/>
              </a:rPr>
              <a:t>Κίνα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03504" y="5806440"/>
            <a:ext cx="10972800" cy="45720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>
              <a:spcAft>
                <a:spcPts val="400"/>
              </a:spcAft>
            </a:pPr>
            <a:r>
              <a:rPr sz="1400">
                <a:solidFill>
                  <a:srgbClr val="555F6B"/>
                </a:solidFill>
                <a:latin typeface="Arial"/>
              </a:rPr>
              <a:t>Ρωτήστε την τάξη πού κατασκευάστηκε καθένας πριν αποκαλύψετε τις ετικέτες.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>
                <a:latin typeface="Arial"/>
              </a:rPr>
              <a:t>Μηχανοκεντρικός σχεδιασμός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>
              <a:spcAft>
                <a:spcPts val="1000"/>
              </a:spcAft>
            </a:pPr>
            <a:r>
              <a:rPr sz="1800">
                <a:latin typeface="Arial"/>
              </a:rPr>
              <a:t>Καλώδια παντού</a:t>
            </a:r>
          </a:p>
          <a:p>
            <a:pPr>
              <a:spcAft>
                <a:spcPts val="1000"/>
              </a:spcAft>
            </a:pPr>
            <a:r>
              <a:rPr sz="1800">
                <a:latin typeface="Arial"/>
              </a:rPr>
              <a:t>Στενότητα και θόρυβος</a:t>
            </a:r>
          </a:p>
          <a:p>
            <a:pPr>
              <a:spcAft>
                <a:spcPts val="1000"/>
              </a:spcAft>
            </a:pPr>
            <a:r>
              <a:rPr sz="1800">
                <a:latin typeface="Arial"/>
              </a:rPr>
              <a:t>Πολύπλοκος χειρισμός</a:t>
            </a:r>
          </a:p>
          <a:p>
            <a:pPr>
              <a:spcAft>
                <a:spcPts val="1000"/>
              </a:spcAft>
            </a:pPr>
            <a:r>
              <a:rPr sz="1800">
                <a:latin typeface="Arial"/>
              </a:rPr>
              <a:t>Ωφελιμιστικοί εσωτερικοί χώροι — πρώτα ο εξοπλισμός, οι άνθρωποι προσαρμόζονται</a:t>
            </a:r>
          </a:p>
        </p:txBody>
      </p:sp>
      <p:pic>
        <p:nvPicPr>
          <p:cNvPr id="4" name="Picture Placeholder 3" descr="image45.jpg"/>
          <p:cNvPicPr>
            <a:picLocks noGrp="1" noChangeAspect="1"/>
          </p:cNvPicPr>
          <p:nvPr>
            <p:ph type="pic" idx="13" sz="quarter"/>
          </p:nvPr>
        </p:nvPicPr>
        <p:blipFill>
          <a:blip r:embed="rId2"/>
          <a:srcRect l="20364" r="20364"/>
          <a:stretch>
            <a:fillRect/>
          </a:stretch>
        </p:blipFill>
        <p:spPr/>
      </p:pic>
      <p:sp>
        <p:nvSpPr>
          <p:cNvPr id="5" name="TextBox 4"/>
          <p:cNvSpPr txBox="1"/>
          <p:nvPr/>
        </p:nvSpPr>
        <p:spPr>
          <a:xfrm>
            <a:off x="6217920" y="6446520"/>
            <a:ext cx="5486400" cy="27432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>
              <a:spcAft>
                <a:spcPts val="400"/>
              </a:spcAft>
            </a:pPr>
            <a:r>
              <a:rPr sz="900">
                <a:solidFill>
                  <a:srgbClr val="FFFFFF"/>
                </a:solidFill>
                <a:latin typeface="Arial"/>
              </a:rPr>
              <a:t>© ESA – M. Wandt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latin typeface="Arial"/>
              </a:rPr>
              <a:t>Ελλάδα &amp; ISS</a:t>
            </a:r>
          </a:p>
        </p:txBody>
      </p:sp>
      <p:pic>
        <p:nvPicPr>
          <p:cNvPr id="3" name="Picture Placeholder 2" descr="image44.jpg"/>
          <p:cNvPicPr>
            <a:picLocks noGrp="1" noChangeAspect="1"/>
          </p:cNvPicPr>
          <p:nvPr>
            <p:ph type="pic" idx="13" sz="quarter"/>
          </p:nvPr>
        </p:nvPicPr>
        <p:blipFill>
          <a:blip r:embed="rId2"/>
          <a:srcRect l="13106" r="13106"/>
          <a:stretch>
            <a:fillRect/>
          </a:stretch>
        </p:blipFill>
        <p:spPr/>
      </p:pic>
      <p:sp>
        <p:nvSpPr>
          <p:cNvPr id="4" name="Text Placeholder 3"/>
          <p:cNvSpPr>
            <a:spLocks noGrp="1"/>
          </p:cNvSpPr>
          <p:nvPr>
            <p:ph type="body" idx="16" sz="quarter"/>
          </p:nvPr>
        </p:nvSpPr>
        <p:spPr/>
        <p:txBody>
          <a:bodyPr/>
          <a:lstStyle/>
          <a:p>
            <a:pPr>
              <a:spcAft>
                <a:spcPts val="600"/>
              </a:spcAft>
            </a:pPr>
            <a:r>
              <a:rPr b="1" sz="1300">
                <a:latin typeface="Arial"/>
              </a:rPr>
              <a:t>Η αποστολή Muninn (2024)</a:t>
            </a:r>
            <a:r>
              <a:rPr sz="1300">
                <a:latin typeface="Arial"/>
              </a:rPr>
              <a:t> — ο αστροναύτης της ESA Marcus Wandt έτρεξε αυτές τις δοκιμασίες σε τροχιά</a:t>
            </a:r>
          </a:p>
        </p:txBody>
      </p:sp>
      <p:pic>
        <p:nvPicPr>
          <p:cNvPr id="5" name="Picture Placeholder 4" descr="image43.jpeg"/>
          <p:cNvPicPr>
            <a:picLocks noGrp="1" noChangeAspect="1"/>
          </p:cNvPicPr>
          <p:nvPr>
            <p:ph type="pic" idx="14" sz="quarter"/>
          </p:nvPr>
        </p:nvPicPr>
        <p:blipFill>
          <a:blip r:embed="rId3"/>
          <a:srcRect l="13088" r="13088"/>
          <a:stretch>
            <a:fillRect/>
          </a:stretch>
        </p:blipFill>
        <p:spPr/>
      </p:pic>
      <p:sp>
        <p:nvSpPr>
          <p:cNvPr id="6" name="Text Placeholder 5"/>
          <p:cNvSpPr>
            <a:spLocks noGrp="1"/>
          </p:cNvSpPr>
          <p:nvPr>
            <p:ph type="body" idx="17" sz="quarter"/>
          </p:nvPr>
        </p:nvSpPr>
        <p:spPr/>
        <p:txBody>
          <a:bodyPr/>
          <a:lstStyle/>
          <a:p>
            <a:pPr>
              <a:spcAft>
                <a:spcPts val="600"/>
              </a:spcAft>
            </a:pPr>
            <a:r>
              <a:rPr b="1" sz="1300">
                <a:latin typeface="Arial"/>
              </a:rPr>
              <a:t>Αδριανός Γκολέμης</a:t>
            </a:r>
            <a:r>
              <a:rPr sz="1300">
                <a:latin typeface="Arial"/>
              </a:rPr>
              <a:t> — ο Έλληνας ιατρός πτήσης της ESA που υποστήριξε την αποστολή</a:t>
            </a:r>
          </a:p>
        </p:txBody>
      </p:sp>
      <p:pic>
        <p:nvPicPr>
          <p:cNvPr id="7" name="Picture Placeholder 6" descr="image39.png"/>
          <p:cNvPicPr>
            <a:picLocks noGrp="1" noChangeAspect="1"/>
          </p:cNvPicPr>
          <p:nvPr>
            <p:ph type="pic" idx="15" sz="quarter"/>
          </p:nvPr>
        </p:nvPicPr>
        <p:blipFill>
          <a:blip r:embed="rId4"/>
          <a:srcRect t="4837" b="4837"/>
          <a:stretch>
            <a:fillRect/>
          </a:stretch>
        </p:blipFill>
        <p:spPr/>
      </p:pic>
      <p:sp>
        <p:nvSpPr>
          <p:cNvPr id="8" name="Text Placeholder 7"/>
          <p:cNvSpPr>
            <a:spLocks noGrp="1"/>
          </p:cNvSpPr>
          <p:nvPr>
            <p:ph type="body" idx="18" sz="quarter"/>
          </p:nvPr>
        </p:nvSpPr>
        <p:spPr/>
        <p:txBody>
          <a:bodyPr/>
          <a:lstStyle/>
          <a:p>
            <a:pPr>
              <a:spcAft>
                <a:spcPts val="600"/>
              </a:spcAft>
            </a:pPr>
            <a:r>
              <a:rPr b="1" sz="1300">
                <a:latin typeface="Arial"/>
              </a:rPr>
              <a:t>Το έμβλημα της αποστολής Muninn</a:t>
            </a:r>
            <a:r>
              <a:rPr sz="1300">
                <a:latin typeface="Arial"/>
              </a:rPr>
              <a:t> — το πείραμα του Μιχαήλ Μάγκου (KTH) ήταν ένα από τα ~20 πειράματα της αποστολής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3504" y="6355080"/>
            <a:ext cx="7315200" cy="27432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>
              <a:spcAft>
                <a:spcPts val="400"/>
              </a:spcAft>
            </a:pPr>
            <a:r>
              <a:rPr sz="900">
                <a:solidFill>
                  <a:srgbClr val="555F6B"/>
                </a:solidFill>
                <a:latin typeface="Arial"/>
              </a:rPr>
              <a:t>© NASA / SpaceX · © ESA – M. Wandt · © ESA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latin typeface="Arial"/>
              </a:rPr>
              <a:t>Η σημερινή πραγματικότητα</a:t>
            </a:r>
          </a:p>
        </p:txBody>
      </p:sp>
      <p:pic>
        <p:nvPicPr>
          <p:cNvPr id="3" name="Picture Placeholder 2" descr="image32.jpeg"/>
          <p:cNvPicPr>
            <a:picLocks noGrp="1" noChangeAspect="1"/>
          </p:cNvPicPr>
          <p:nvPr>
            <p:ph type="pic" idx="13" sz="quarter"/>
          </p:nvPr>
        </p:nvPicPr>
        <p:blipFill>
          <a:blip r:embed="rId2"/>
          <a:srcRect t="19922" b="19922"/>
          <a:stretch>
            <a:fillRect/>
          </a:stretch>
        </p:blipFill>
        <p:spPr/>
      </p:pic>
      <p:sp>
        <p:nvSpPr>
          <p:cNvPr id="4" name="TextBox 3"/>
          <p:cNvSpPr txBox="1"/>
          <p:nvPr/>
        </p:nvSpPr>
        <p:spPr>
          <a:xfrm>
            <a:off x="603504" y="6355080"/>
            <a:ext cx="7315200" cy="27432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>
              <a:spcAft>
                <a:spcPts val="400"/>
              </a:spcAft>
            </a:pPr>
            <a:r>
              <a:rPr sz="900">
                <a:solidFill>
                  <a:srgbClr val="555F6B"/>
                </a:solidFill>
                <a:latin typeface="Arial"/>
              </a:rPr>
              <a:t>© ESA – M. Wandt · Εσωτερικό του ISS που φωτογράφισε ο Marcus Wandt στο εργαστήριο Destiny — καλώδια παντού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34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7828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0061">
              <a:alpha val="4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2103120"/>
            <a:ext cx="10332720" cy="237744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5400" b="1">
                <a:solidFill>
                  <a:srgbClr val="FFFFFF"/>
                </a:solidFill>
                <a:latin typeface="Arial"/>
              </a:rPr>
              <a:t>Τι κάνει το διάστημα στρεσογόνο;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4663440"/>
            <a:ext cx="10332720" cy="73152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ctr">
              <a:spcAft>
                <a:spcPts val="400"/>
              </a:spcAft>
            </a:pPr>
            <a:r>
              <a:rPr sz="2000">
                <a:solidFill>
                  <a:srgbClr val="DEF0FF"/>
                </a:solidFill>
                <a:latin typeface="Arial"/>
              </a:rPr>
              <a:t>Πρώτα το διάστημα · μετά σχολείο και σπίτι · μετά: τι σας βοηθά να χαλαρώσετε;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052560" y="6446520"/>
            <a:ext cx="3017520" cy="27432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>
              <a:spcAft>
                <a:spcPts val="400"/>
              </a:spcAft>
            </a:pPr>
            <a:r>
              <a:rPr sz="900">
                <a:solidFill>
                  <a:srgbClr val="DEF0FF"/>
                </a:solidFill>
                <a:latin typeface="Arial"/>
              </a:rPr>
              <a:t>© ESA – M. Wandt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latin typeface="Arial"/>
              </a:rPr>
              <a:t>Η γνωστική σύνδεση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822960" y="2286000"/>
            <a:ext cx="2971800" cy="2103120"/>
          </a:xfrm>
          <a:prstGeom prst="roundRect">
            <a:avLst>
              <a:gd name="adj" fmla="val 12000"/>
            </a:avLst>
          </a:prstGeom>
          <a:solidFill>
            <a:srgbClr val="6198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200"/>
              </a:spcAft>
            </a:pPr>
            <a:r>
              <a:rPr b="1" sz="1600">
                <a:solidFill>
                  <a:srgbClr val="000061"/>
                </a:solidFill>
                <a:latin typeface="Arial"/>
              </a:rPr>
              <a:t>Περιβάλλον</a:t>
            </a:r>
          </a:p>
          <a:p>
            <a:pPr algn="ctr">
              <a:spcAft>
                <a:spcPts val="200"/>
              </a:spcAft>
            </a:pPr>
            <a:r>
              <a:rPr sz="1600">
                <a:solidFill>
                  <a:srgbClr val="000061"/>
                </a:solidFill>
                <a:latin typeface="Arial"/>
              </a:rPr>
              <a:t>θόρυβος · φως · ακαταστασία · πράσινο · χώρος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3867912" y="3337560"/>
            <a:ext cx="676656" cy="0"/>
          </a:xfrm>
          <a:prstGeom prst="line">
            <a:avLst/>
          </a:prstGeom>
          <a:ln w="38100">
            <a:solidFill>
              <a:srgbClr val="000061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ounded Rectangle 4"/>
          <p:cNvSpPr/>
          <p:nvPr/>
        </p:nvSpPr>
        <p:spPr>
          <a:xfrm>
            <a:off x="4617720" y="2286000"/>
            <a:ext cx="2971800" cy="2103120"/>
          </a:xfrm>
          <a:prstGeom prst="roundRect">
            <a:avLst>
              <a:gd name="adj" fmla="val 12000"/>
            </a:avLst>
          </a:prstGeom>
          <a:solidFill>
            <a:srgbClr val="0047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200"/>
              </a:spcAft>
            </a:pPr>
            <a:r>
              <a:rPr b="1" sz="1600">
                <a:solidFill>
                  <a:srgbClr val="FFFFFF"/>
                </a:solidFill>
                <a:latin typeface="Arial"/>
              </a:rPr>
              <a:t>Στρες &amp; ανάκαμψη</a:t>
            </a:r>
          </a:p>
          <a:p>
            <a:pPr algn="ctr">
              <a:spcAft>
                <a:spcPts val="200"/>
              </a:spcAft>
            </a:pPr>
            <a:r>
              <a:rPr sz="1600">
                <a:solidFill>
                  <a:srgbClr val="FFFFFF"/>
                </a:solidFill>
                <a:latin typeface="Arial"/>
              </a:rPr>
              <a:t>πώς αντιδρούν σώμα και νους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662672" y="3337560"/>
            <a:ext cx="676655" cy="0"/>
          </a:xfrm>
          <a:prstGeom prst="line">
            <a:avLst/>
          </a:prstGeom>
          <a:ln w="38100">
            <a:solidFill>
              <a:srgbClr val="000061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ounded Rectangle 6"/>
          <p:cNvSpPr/>
          <p:nvPr/>
        </p:nvSpPr>
        <p:spPr>
          <a:xfrm>
            <a:off x="8412480" y="2286000"/>
            <a:ext cx="2971800" cy="2103120"/>
          </a:xfrm>
          <a:prstGeom prst="roundRect">
            <a:avLst>
              <a:gd name="adj" fmla="val 12000"/>
            </a:avLst>
          </a:prstGeom>
          <a:solidFill>
            <a:srgbClr val="0000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200"/>
              </a:spcAft>
            </a:pPr>
            <a:r>
              <a:rPr b="1" sz="1600">
                <a:solidFill>
                  <a:srgbClr val="FFFFFF"/>
                </a:solidFill>
                <a:latin typeface="Arial"/>
              </a:rPr>
              <a:t>Νόηση</a:t>
            </a:r>
          </a:p>
          <a:p>
            <a:pPr algn="ctr">
              <a:spcAft>
                <a:spcPts val="200"/>
              </a:spcAft>
            </a:pPr>
            <a:r>
              <a:rPr sz="1600">
                <a:solidFill>
                  <a:srgbClr val="FFFFFF"/>
                </a:solidFill>
                <a:latin typeface="Arial"/>
              </a:rPr>
              <a:t>προσοχή · μνήμη · αποφάσεις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4800600"/>
            <a:ext cx="10607040" cy="109728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>
              <a:spcAft>
                <a:spcPts val="400"/>
              </a:spcAft>
            </a:pPr>
            <a:r>
              <a:rPr sz="1500">
                <a:solidFill>
                  <a:srgbClr val="555F6B"/>
                </a:solidFill>
                <a:latin typeface="Arial"/>
              </a:rPr>
              <a:t>Παραδείγματα από τον πίνακα: μια θορυβώδης καμπίνα αυξάνει το στρες και μειώνει την προσοχή· η θέα της Γης, τα φυτά και το καλό φως βοηθούν στην ανάκαμψη.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600">
                <a:latin typeface="Arial"/>
              </a:rPr>
              <a:t>Οι καλύτεροι σταθμοί χρειάζονται τεκμήρια, όχι εικασίες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spcAft>
                <a:spcPts val="600"/>
              </a:spcAft>
            </a:pPr>
            <a:r>
              <a:rPr sz="2000">
                <a:latin typeface="Arial"/>
              </a:rPr>
              <a:t>Οι απόψεις διαφέρουν — οι μετρήσεις αποφασίζουν. Γι' αυτό κάνουμε δοκιμασίες.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latin typeface="Arial"/>
              </a:rPr>
              <a:t>Πού ζουν τα πληρώματα σήμερα</a:t>
            </a:r>
          </a:p>
        </p:txBody>
      </p:sp>
      <p:pic>
        <p:nvPicPr>
          <p:cNvPr id="3" name="Picture Placeholder 2" descr="image46.jpg"/>
          <p:cNvPicPr>
            <a:picLocks noGrp="1" noChangeAspect="1"/>
          </p:cNvPicPr>
          <p:nvPr>
            <p:ph type="pic" idx="13" sz="quarter"/>
          </p:nvPr>
        </p:nvPicPr>
        <p:blipFill>
          <a:blip r:embed="rId2"/>
          <a:srcRect t="6364" b="6364"/>
          <a:stretch>
            <a:fillRect/>
          </a:stretch>
        </p:blipFill>
        <p:spPr/>
      </p:pic>
      <p:sp>
        <p:nvSpPr>
          <p:cNvPr id="4" name="Text Placeholder 3"/>
          <p:cNvSpPr>
            <a:spLocks noGrp="1"/>
          </p:cNvSpPr>
          <p:nvPr>
            <p:ph type="body" idx="16" sz="quarter"/>
          </p:nvPr>
        </p:nvSpPr>
        <p:spPr/>
        <p:txBody>
          <a:bodyPr/>
          <a:lstStyle/>
          <a:p>
            <a:pPr>
              <a:spcAft>
                <a:spcPts val="600"/>
              </a:spcAft>
            </a:pPr>
            <a:r>
              <a:rPr b="1" sz="1400">
                <a:latin typeface="Arial"/>
              </a:rPr>
              <a:t>Η Cupola</a:t>
            </a:r>
            <a:r>
              <a:rPr sz="1400">
                <a:latin typeface="Arial"/>
              </a:rPr>
              <a:t> — το μόνο παράθυρο με πραγματική θέα στη Γη</a:t>
            </a:r>
          </a:p>
        </p:txBody>
      </p:sp>
      <p:pic>
        <p:nvPicPr>
          <p:cNvPr id="5" name="Picture Placeholder 4" descr="image47.jpeg"/>
          <p:cNvPicPr>
            <a:picLocks noGrp="1" noChangeAspect="1"/>
          </p:cNvPicPr>
          <p:nvPr>
            <p:ph type="pic" idx="14" sz="quarter"/>
          </p:nvPr>
        </p:nvPicPr>
        <p:blipFill>
          <a:blip r:embed="rId3"/>
          <a:srcRect t="28177" b="28177"/>
          <a:stretch>
            <a:fillRect/>
          </a:stretch>
        </p:blipFill>
        <p:spPr/>
      </p:pic>
      <p:sp>
        <p:nvSpPr>
          <p:cNvPr id="6" name="Text Placeholder 5"/>
          <p:cNvSpPr>
            <a:spLocks noGrp="1"/>
          </p:cNvSpPr>
          <p:nvPr>
            <p:ph type="body" idx="17" sz="quarter"/>
          </p:nvPr>
        </p:nvSpPr>
        <p:spPr/>
        <p:txBody>
          <a:bodyPr/>
          <a:lstStyle/>
          <a:p>
            <a:pPr>
              <a:spcAft>
                <a:spcPts val="600"/>
              </a:spcAft>
            </a:pPr>
            <a:r>
              <a:rPr b="1" sz="1400">
                <a:latin typeface="Arial"/>
              </a:rPr>
              <a:t>Οι καμπίνες ύπνου του πληρώματος</a:t>
            </a:r>
            <a:r>
              <a:rPr sz="1400">
                <a:latin typeface="Arial"/>
              </a:rPr>
              <a:t> — ιδιωτικός χώρος σε μέγεθος τηλεφωνικού θαλάμου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3504" y="6355080"/>
            <a:ext cx="7315200" cy="27432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>
              <a:spcAft>
                <a:spcPts val="400"/>
              </a:spcAft>
            </a:pPr>
            <a:r>
              <a:rPr sz="900">
                <a:solidFill>
                  <a:srgbClr val="555F6B"/>
                </a:solidFill>
                <a:latin typeface="Arial"/>
              </a:rPr>
              <a:t>© ESA – M. Wandt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latin typeface="Arial"/>
              </a:rPr>
              <a:t>Το όραμα για το μέλλον</a:t>
            </a:r>
          </a:p>
        </p:txBody>
      </p:sp>
      <p:pic>
        <p:nvPicPr>
          <p:cNvPr id="3" name="Picture Placeholder 2" descr="image37.jpg"/>
          <p:cNvPicPr>
            <a:picLocks noGrp="1" noChangeAspect="1"/>
          </p:cNvPicPr>
          <p:nvPr>
            <p:ph type="pic" idx="13" sz="quarter"/>
          </p:nvPr>
        </p:nvPicPr>
        <p:blipFill>
          <a:blip r:embed="rId2"/>
          <a:srcRect t="23005" b="23005"/>
          <a:stretch>
            <a:fillRect/>
          </a:stretch>
        </p:blipFill>
        <p:spPr/>
      </p:pic>
      <p:sp>
        <p:nvSpPr>
          <p:cNvPr id="4" name="TextBox 3"/>
          <p:cNvSpPr txBox="1"/>
          <p:nvPr/>
        </p:nvSpPr>
        <p:spPr>
          <a:xfrm>
            <a:off x="603504" y="6355080"/>
            <a:ext cx="7315200" cy="27432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>
              <a:spcAft>
                <a:spcPts val="400"/>
              </a:spcAft>
            </a:pPr>
            <a:r>
              <a:rPr sz="900">
                <a:solidFill>
                  <a:srgbClr val="555F6B"/>
                </a:solidFill>
                <a:latin typeface="Arial"/>
              </a:rPr>
              <a:t>© NASA – Rick Guidice, NASA Ames Research Center · Περιστρεφόμενοι σταθμοί με πράσινο και παράθυρα — εικαστική σύλληψη της δεκαετίας του 1970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latin typeface="Arial"/>
              </a:rPr>
              <a:t>Μικρά βήματα σήμερα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822960" y="2103120"/>
            <a:ext cx="4754880" cy="3108960"/>
          </a:xfrm>
          <a:prstGeom prst="roundRect">
            <a:avLst>
              <a:gd name="adj" fmla="val 8000"/>
            </a:avLst>
          </a:prstGeom>
          <a:solidFill>
            <a:srgbClr val="DEF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200"/>
              </a:spcAft>
            </a:pPr>
            <a:r>
              <a:rPr b="1" sz="2000">
                <a:solidFill>
                  <a:srgbClr val="000061"/>
                </a:solidFill>
                <a:latin typeface="Arial"/>
              </a:rPr>
              <a:t>Μικρά ποσοτικά πειράματα</a:t>
            </a:r>
          </a:p>
          <a:p>
            <a:pPr algn="ctr">
              <a:spcAft>
                <a:spcPts val="200"/>
              </a:spcAft>
            </a:pPr>
            <a:r>
              <a:rPr sz="2000">
                <a:solidFill>
                  <a:srgbClr val="000061"/>
                </a:solidFill>
                <a:latin typeface="Arial"/>
              </a:rPr>
              <a:t>μετράμε ένα πράγμα τη φορά: θόρυβο, φως, ακαταστασία…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715000" y="3657600"/>
            <a:ext cx="822960" cy="0"/>
          </a:xfrm>
          <a:prstGeom prst="line">
            <a:avLst/>
          </a:prstGeom>
          <a:ln w="50800">
            <a:solidFill>
              <a:srgbClr val="000061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ounded Rectangle 4"/>
          <p:cNvSpPr/>
          <p:nvPr/>
        </p:nvSpPr>
        <p:spPr>
          <a:xfrm>
            <a:off x="6675120" y="2103120"/>
            <a:ext cx="4754880" cy="3108960"/>
          </a:xfrm>
          <a:prstGeom prst="roundRect">
            <a:avLst>
              <a:gd name="adj" fmla="val 8000"/>
            </a:avLst>
          </a:prstGeom>
          <a:solidFill>
            <a:srgbClr val="0000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200"/>
              </a:spcAft>
            </a:pPr>
            <a:r>
              <a:rPr b="1" sz="2000">
                <a:solidFill>
                  <a:srgbClr val="FFFFFF"/>
                </a:solidFill>
                <a:latin typeface="Arial"/>
              </a:rPr>
              <a:t>Ποιοτική αλλαγή με τον χρόνο</a:t>
            </a:r>
          </a:p>
          <a:p>
            <a:pPr algn="ctr">
              <a:spcAft>
                <a:spcPts val="200"/>
              </a:spcAft>
            </a:pPr>
            <a:r>
              <a:rPr sz="2000">
                <a:solidFill>
                  <a:srgbClr val="FFFFFF"/>
                </a:solidFill>
                <a:latin typeface="Arial"/>
              </a:rPr>
              <a:t>καλύτερα σχεδιασμένοι σταθμοί, πιο ευτυχισμένα και πιο οξυδερκή πληρώματα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5486400"/>
            <a:ext cx="10607040" cy="54864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ctr">
              <a:spcAft>
                <a:spcPts val="400"/>
              </a:spcAft>
            </a:pPr>
            <a:r>
              <a:rPr sz="1600">
                <a:solidFill>
                  <a:srgbClr val="555F6B"/>
                </a:solidFill>
                <a:latin typeface="Arial"/>
              </a:rPr>
              <a:t>Εμείς κάνουμε αυτά τα βήματα τώρα — και σήμερα τα κάνετε κι εσείς.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latin typeface="Arial"/>
              </a:rPr>
              <a:t>Πώς ελέγχουμε τη νόηση</a:t>
            </a:r>
          </a:p>
        </p:txBody>
      </p:sp>
      <p:pic>
        <p:nvPicPr>
          <p:cNvPr id="3" name="Picture Placeholder 2" descr="image48.jpeg"/>
          <p:cNvPicPr>
            <a:picLocks noGrp="1" noChangeAspect="1"/>
          </p:cNvPicPr>
          <p:nvPr>
            <p:ph type="pic" idx="13" sz="quarter"/>
          </p:nvPr>
        </p:nvPicPr>
        <p:blipFill>
          <a:blip r:embed="rId2"/>
          <a:srcRect l="6653" r="6653"/>
          <a:stretch>
            <a:fillRect/>
          </a:stretch>
        </p:blipFill>
        <p:spPr/>
      </p:pic>
      <p:sp>
        <p:nvSpPr>
          <p:cNvPr id="4" name="Text Placeholder 3"/>
          <p:cNvSpPr>
            <a:spLocks noGrp="1"/>
          </p:cNvSpPr>
          <p:nvPr>
            <p:ph type="body" idx="16" sz="quarter"/>
          </p:nvPr>
        </p:nvSpPr>
        <p:spPr/>
        <p:txBody>
          <a:bodyPr/>
          <a:lstStyle/>
          <a:p>
            <a:pPr>
              <a:spcAft>
                <a:spcPts val="600"/>
              </a:spcAft>
            </a:pPr>
            <a:r>
              <a:rPr b="1" sz="1300">
                <a:latin typeface="Arial"/>
              </a:rPr>
              <a:t>Χρόνος αντίδρασης (τύπου PVT)</a:t>
            </a:r>
            <a:r>
              <a:rPr sz="1300">
                <a:latin typeface="Arial"/>
              </a:rPr>
              <a:t> — εγρήγορση · όλοι, ως προθέρμανση</a:t>
            </a:r>
          </a:p>
        </p:txBody>
      </p:sp>
      <p:pic>
        <p:nvPicPr>
          <p:cNvPr id="5" name="Picture Placeholder 4" descr="image52.png"/>
          <p:cNvPicPr>
            <a:picLocks noGrp="1" noChangeAspect="1"/>
          </p:cNvPicPr>
          <p:nvPr>
            <p:ph type="pic" idx="14" sz="quarter"/>
          </p:nvPr>
        </p:nvPicPr>
        <p:blipFill>
          <a:blip r:embed="rId3"/>
          <a:srcRect t="7126" b="7126"/>
          <a:stretch>
            <a:fillRect/>
          </a:stretch>
        </p:blipFill>
        <p:spPr/>
      </p:pic>
      <p:sp>
        <p:nvSpPr>
          <p:cNvPr id="6" name="Text Placeholder 5"/>
          <p:cNvSpPr>
            <a:spLocks noGrp="1"/>
          </p:cNvSpPr>
          <p:nvPr>
            <p:ph type="body" idx="17" sz="quarter"/>
          </p:nvPr>
        </p:nvSpPr>
        <p:spPr/>
        <p:txBody>
          <a:bodyPr/>
          <a:lstStyle/>
          <a:p>
            <a:pPr>
              <a:spcAft>
                <a:spcPts val="600"/>
              </a:spcAft>
            </a:pPr>
            <a:r>
              <a:rPr b="1" sz="1300">
                <a:latin typeface="Arial"/>
              </a:rPr>
              <a:t>N-Back</a:t>
            </a:r>
            <a:r>
              <a:rPr sz="1300">
                <a:latin typeface="Arial"/>
              </a:rPr>
              <a:t> — εργαζόμενη μνήμη · ηλικίες 16–18</a:t>
            </a:r>
          </a:p>
        </p:txBody>
      </p:sp>
      <p:pic>
        <p:nvPicPr>
          <p:cNvPr id="7" name="Picture Placeholder 6" descr="matb-run.png"/>
          <p:cNvPicPr>
            <a:picLocks noGrp="1" noChangeAspect="1"/>
          </p:cNvPicPr>
          <p:nvPr>
            <p:ph type="pic" idx="15" sz="quarter"/>
          </p:nvPr>
        </p:nvPicPr>
        <p:blipFill>
          <a:blip r:embed="rId4"/>
          <a:srcRect l="15403" r="15403"/>
          <a:stretch>
            <a:fillRect/>
          </a:stretch>
        </p:blipFill>
        <p:spPr/>
      </p:pic>
      <p:sp>
        <p:nvSpPr>
          <p:cNvPr id="8" name="Text Placeholder 7"/>
          <p:cNvSpPr>
            <a:spLocks noGrp="1"/>
          </p:cNvSpPr>
          <p:nvPr>
            <p:ph type="body" idx="18" sz="quarter"/>
          </p:nvPr>
        </p:nvSpPr>
        <p:spPr/>
        <p:txBody>
          <a:bodyPr/>
          <a:lstStyle/>
          <a:p>
            <a:pPr>
              <a:spcAft>
                <a:spcPts val="600"/>
              </a:spcAft>
            </a:pPr>
            <a:r>
              <a:rPr b="1" sz="1300">
                <a:latin typeface="Arial"/>
              </a:rPr>
              <a:t>MATB</a:t>
            </a:r>
            <a:r>
              <a:rPr sz="1300">
                <a:latin typeface="Arial"/>
              </a:rPr>
              <a:t> — εκτελεστικές λειτουργίες · εστίαση στις ηλικίες 14–15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3504" y="5989320"/>
            <a:ext cx="10972800" cy="36576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>
              <a:spcAft>
                <a:spcPts val="400"/>
              </a:spcAft>
            </a:pPr>
            <a:r>
              <a:rPr sz="1400">
                <a:solidFill>
                  <a:srgbClr val="555F6B"/>
                </a:solidFill>
                <a:latin typeface="Arial"/>
              </a:rPr>
              <a:t>«Πώς ξέρει ο καθηγητής των μαθηματικών αν είστε καλοί στα μαθηματικά;» → διαγωνίσματα.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latin typeface="Arial"/>
              </a:rPr>
              <a:t>Πού τρέχει η έρευνα</a:t>
            </a:r>
          </a:p>
        </p:txBody>
      </p:sp>
      <p:pic>
        <p:nvPicPr>
          <p:cNvPr id="3" name="Picture Placeholder 2" descr="image41.png"/>
          <p:cNvPicPr>
            <a:picLocks noGrp="1" noChangeAspect="1"/>
          </p:cNvPicPr>
          <p:nvPr>
            <p:ph type="pic" idx="13" sz="quarter"/>
          </p:nvPr>
        </p:nvPicPr>
        <p:blipFill>
          <a:blip r:embed="rId2"/>
          <a:srcRect t="11185" b="11185"/>
          <a:stretch>
            <a:fillRect/>
          </a:stretch>
        </p:blipFill>
        <p:spPr/>
      </p:pic>
      <p:sp>
        <p:nvSpPr>
          <p:cNvPr id="4" name="Text Placeholder 3"/>
          <p:cNvSpPr>
            <a:spLocks noGrp="1"/>
          </p:cNvSpPr>
          <p:nvPr>
            <p:ph type="body" idx="16" sz="quarter"/>
          </p:nvPr>
        </p:nvSpPr>
        <p:spPr/>
        <p:txBody>
          <a:bodyPr/>
          <a:lstStyle/>
          <a:p>
            <a:pPr>
              <a:spcAft>
                <a:spcPts val="600"/>
              </a:spcAft>
            </a:pPr>
            <a:r>
              <a:rPr b="1" sz="1400">
                <a:latin typeface="Arial"/>
              </a:rPr>
              <a:t>MDRS, Γιούτα</a:t>
            </a:r>
            <a:r>
              <a:rPr sz="1400">
                <a:latin typeface="Arial"/>
              </a:rPr>
              <a:t> — Mars Desert Research Station με πληρώματα της ISAE-SUPAERO (MDRS 275, 293, 311, 330)</a:t>
            </a:r>
          </a:p>
        </p:txBody>
      </p:sp>
      <p:pic>
        <p:nvPicPr>
          <p:cNvPr id="5" name="Picture Placeholder 4" descr="image43.jpeg"/>
          <p:cNvPicPr>
            <a:picLocks noGrp="1" noChangeAspect="1"/>
          </p:cNvPicPr>
          <p:nvPr>
            <p:ph type="pic" idx="14" sz="quarter"/>
          </p:nvPr>
        </p:nvPicPr>
        <p:blipFill>
          <a:blip r:embed="rId3"/>
          <a:srcRect t="6364" b="6364"/>
          <a:stretch>
            <a:fillRect/>
          </a:stretch>
        </p:blipFill>
        <p:spPr/>
      </p:pic>
      <p:sp>
        <p:nvSpPr>
          <p:cNvPr id="6" name="Text Placeholder 5"/>
          <p:cNvSpPr>
            <a:spLocks noGrp="1"/>
          </p:cNvSpPr>
          <p:nvPr>
            <p:ph type="body" idx="17" sz="quarter"/>
          </p:nvPr>
        </p:nvSpPr>
        <p:spPr/>
        <p:txBody>
          <a:bodyPr/>
          <a:lstStyle/>
          <a:p>
            <a:pPr>
              <a:spcAft>
                <a:spcPts val="600"/>
              </a:spcAft>
            </a:pPr>
            <a:r>
              <a:rPr b="1" sz="1400">
                <a:latin typeface="Arial"/>
              </a:rPr>
              <a:t>Ο ISS</a:t>
            </a:r>
            <a:r>
              <a:rPr sz="1400">
                <a:latin typeface="Arial"/>
              </a:rPr>
              <a:t> — Marcus Wandt, αποστολή Muninn της ESA, 2024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3504" y="6355080"/>
            <a:ext cx="7315200" cy="27432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>
              <a:spcAft>
                <a:spcPts val="400"/>
              </a:spcAft>
            </a:pPr>
            <a:r>
              <a:rPr sz="900">
                <a:solidFill>
                  <a:srgbClr val="555F6B"/>
                </a:solidFill>
                <a:latin typeface="Arial"/>
              </a:rPr>
              <a:t>© ISAE-SUPAERO · © ESA – M. Wandt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latin typeface="Arial"/>
              </a:rPr>
              <a:t>Χρόνος αντίδρασης — ένας γύρος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3504" y="1920240"/>
            <a:ext cx="3931920" cy="420624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>
              <a:spcAft>
                <a:spcPts val="1000"/>
              </a:spcAft>
            </a:pPr>
            <a:r>
              <a:rPr sz="1800">
                <a:solidFill>
                  <a:srgbClr val="000061"/>
                </a:solidFill>
                <a:latin typeface="Arial"/>
              </a:rPr>
              <a:t>Πατήστε την οθόνη (ή το SPACE) όσο πιο γρήγορα μπορείτε όταν εμφανιστεί η κόκκινη κουκκίδα</a:t>
            </a:r>
          </a:p>
          <a:p>
            <a:pPr>
              <a:spcAft>
                <a:spcPts val="1000"/>
              </a:spcAft>
            </a:pPr>
            <a:r>
              <a:rPr sz="1800">
                <a:solidFill>
                  <a:srgbClr val="000061"/>
                </a:solidFill>
                <a:latin typeface="Arial"/>
              </a:rPr>
              <a:t>Ένας γύρος · 8 κουκκίδες · περίπου ένα λεπτό</a:t>
            </a:r>
          </a:p>
          <a:p>
            <a:pPr>
              <a:spcAft>
                <a:spcPts val="1000"/>
              </a:spcAft>
            </a:pPr>
            <a:r>
              <a:rPr sz="1800">
                <a:solidFill>
                  <a:srgbClr val="000061"/>
                </a:solidFill>
                <a:latin typeface="Arial"/>
              </a:rPr>
              <a:t>Όλοι είναι διαφορετικοί — συγχυτικοί παράγοντες</a:t>
            </a:r>
          </a:p>
          <a:p>
            <a:pPr>
              <a:spcAft>
                <a:spcPts val="1000"/>
              </a:spcAft>
            </a:pPr>
            <a:r>
              <a:rPr b="1" sz="1800">
                <a:solidFill>
                  <a:srgbClr val="000061"/>
                </a:solidFill>
                <a:latin typeface="Arial"/>
              </a:rPr>
              <a:t>Εσείς έναντι του εαυτού σας</a:t>
            </a:r>
            <a:r>
              <a:rPr sz="1800">
                <a:solidFill>
                  <a:srgbClr val="000061"/>
                </a:solidFill>
                <a:latin typeface="Arial"/>
              </a:rPr>
              <a:t>: το Εργαστήριο συνθηκών θα σας συγκρίνει αργότερα με τον εαυτό σας, ως % της δικής σας βαθμολογίας</a:t>
            </a:r>
          </a:p>
        </p:txBody>
      </p:sp>
      <p:pic>
        <p:nvPicPr>
          <p:cNvPr id="4" name="Picture 3" descr="reaction-star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0" y="2114550"/>
            <a:ext cx="4206240" cy="2628899"/>
          </a:xfrm>
          <a:prstGeom prst="rect">
            <a:avLst/>
          </a:prstGeom>
          <a:ln w="9525">
            <a:solidFill>
              <a:srgbClr val="C8D0DA"/>
            </a:solidFill>
          </a:ln>
        </p:spPr>
      </p:pic>
      <p:sp>
        <p:nvSpPr>
          <p:cNvPr id="5" name="Rounded Rectangle 4"/>
          <p:cNvSpPr/>
          <p:nvPr/>
        </p:nvSpPr>
        <p:spPr>
          <a:xfrm>
            <a:off x="9189720" y="1920240"/>
            <a:ext cx="2395728" cy="30632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C8D0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reaction-default-e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36024" y="2011680"/>
            <a:ext cx="2103120" cy="210312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9189720" y="4160520"/>
            <a:ext cx="2395728" cy="73152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>
                <a:solidFill>
                  <a:srgbClr val="000061"/>
                </a:solidFill>
                <a:latin typeface="Arial"/>
              </a:rPr>
              <a:t>Σαρώστε για άνοιγμα</a:t>
            </a:r>
          </a:p>
          <a:p>
            <a:pPr algn="ctr">
              <a:spcAft>
                <a:spcPts val="400"/>
              </a:spcAft>
            </a:pPr>
            <a:r>
              <a:rPr b="1" sz="1100">
                <a:solidFill>
                  <a:srgbClr val="000061"/>
                </a:solidFill>
                <a:latin typeface="Arial"/>
              </a:rPr>
              <a:t>/reaction-default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754880" y="5074920"/>
            <a:ext cx="6858000" cy="36576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>
              <a:spcAft>
                <a:spcPts val="400"/>
              </a:spcAft>
            </a:pPr>
            <a:r>
              <a:rPr sz="1100">
                <a:solidFill>
                  <a:srgbClr val="555F6B"/>
                </a:solidFill>
                <a:latin typeface="Arial"/>
              </a:rPr>
              <a:t>magkosm.github.io/orbarch-edu/reaction-default?lng=el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0" y="5394960"/>
            <a:ext cx="6858000" cy="73152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>
              <a:spcAft>
                <a:spcPts val="400"/>
              </a:spcAft>
            </a:pPr>
            <a:r>
              <a:rPr sz="1200">
                <a:solidFill>
                  <a:srgbClr val="555F6B"/>
                </a:solidFill>
                <a:latin typeface="Arial"/>
              </a:rPr>
              <a:t>Οθόνη έναρξης. Γράψτε τον μέσο και τον ταχύτερο χρόνο σας στο φύλλο εργασίας.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latin typeface="Arial"/>
              </a:rPr>
              <a:t>MATB — τέσσερις εργασίες ταυτόχρονα</a:t>
            </a:r>
          </a:p>
        </p:txBody>
      </p:sp>
      <p:pic>
        <p:nvPicPr>
          <p:cNvPr id="3" name="Picture 2" descr="training-monitor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9223" y="1828800"/>
            <a:ext cx="2926080" cy="1828800"/>
          </a:xfrm>
          <a:prstGeom prst="rect">
            <a:avLst/>
          </a:prstGeom>
          <a:ln w="9525">
            <a:solidFill>
              <a:srgbClr val="C8D0DA"/>
            </a:solidFill>
          </a:ln>
        </p:spPr>
      </p:pic>
      <p:sp>
        <p:nvSpPr>
          <p:cNvPr id="4" name="TextBox 3"/>
          <p:cNvSpPr txBox="1"/>
          <p:nvPr/>
        </p:nvSpPr>
        <p:spPr>
          <a:xfrm>
            <a:off x="3712463" y="2103120"/>
            <a:ext cx="2468880" cy="146304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>
              <a:spcAft>
                <a:spcPts val="400"/>
              </a:spcAft>
            </a:pPr>
            <a:r>
              <a:rPr b="1" sz="1300">
                <a:solidFill>
                  <a:srgbClr val="000061"/>
                </a:solidFill>
                <a:latin typeface="Arial"/>
              </a:rPr>
              <a:t>Παρακολούθηση συστήματος</a:t>
            </a:r>
            <a:r>
              <a:rPr sz="1300">
                <a:solidFill>
                  <a:srgbClr val="000061"/>
                </a:solidFill>
                <a:latin typeface="Arial"/>
              </a:rPr>
              <a:t> — πατήστε τη λυχνία ή τον μετρητή που χαλάει</a:t>
            </a:r>
          </a:p>
        </p:txBody>
      </p:sp>
      <p:pic>
        <p:nvPicPr>
          <p:cNvPr id="5" name="Picture 4" descr="training-trackin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18504" y="1828800"/>
            <a:ext cx="2926080" cy="1828800"/>
          </a:xfrm>
          <a:prstGeom prst="rect">
            <a:avLst/>
          </a:prstGeom>
          <a:ln w="9525">
            <a:solidFill>
              <a:srgbClr val="C8D0DA"/>
            </a:solidFill>
          </a:ln>
        </p:spPr>
      </p:pic>
      <p:sp>
        <p:nvSpPr>
          <p:cNvPr id="6" name="TextBox 5"/>
          <p:cNvSpPr txBox="1"/>
          <p:nvPr/>
        </p:nvSpPr>
        <p:spPr>
          <a:xfrm>
            <a:off x="9381744" y="2103120"/>
            <a:ext cx="2468880" cy="146304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>
              <a:spcAft>
                <a:spcPts val="400"/>
              </a:spcAft>
            </a:pPr>
            <a:r>
              <a:rPr b="1" sz="1300">
                <a:solidFill>
                  <a:srgbClr val="000061"/>
                </a:solidFill>
                <a:latin typeface="Arial"/>
              </a:rPr>
              <a:t>Ιχνηλάτηση</a:t>
            </a:r>
            <a:r>
              <a:rPr sz="1300">
                <a:solidFill>
                  <a:srgbClr val="000061"/>
                </a:solidFill>
                <a:latin typeface="Arial"/>
              </a:rPr>
              <a:t> — κρατήστε τον δρομέα μέσα στο τετράγωνο όταν γράφει ΧΕΙΡΟΚΙΝΗΤΟ</a:t>
            </a:r>
          </a:p>
        </p:txBody>
      </p:sp>
      <p:pic>
        <p:nvPicPr>
          <p:cNvPr id="7" name="Picture 6" descr="training-comm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9223" y="4069080"/>
            <a:ext cx="2926080" cy="1828800"/>
          </a:xfrm>
          <a:prstGeom prst="rect">
            <a:avLst/>
          </a:prstGeom>
          <a:ln w="9525">
            <a:solidFill>
              <a:srgbClr val="C8D0DA"/>
            </a:solidFill>
          </a:ln>
        </p:spPr>
      </p:pic>
      <p:sp>
        <p:nvSpPr>
          <p:cNvPr id="8" name="TextBox 7"/>
          <p:cNvSpPr txBox="1"/>
          <p:nvPr/>
        </p:nvSpPr>
        <p:spPr>
          <a:xfrm>
            <a:off x="3712463" y="4343400"/>
            <a:ext cx="2468880" cy="146304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>
              <a:spcAft>
                <a:spcPts val="400"/>
              </a:spcAft>
            </a:pPr>
            <a:r>
              <a:rPr b="1" sz="1300">
                <a:solidFill>
                  <a:srgbClr val="000061"/>
                </a:solidFill>
                <a:latin typeface="Arial"/>
              </a:rPr>
              <a:t>Επικοινωνίες</a:t>
            </a:r>
            <a:r>
              <a:rPr sz="1300">
                <a:solidFill>
                  <a:srgbClr val="000061"/>
                </a:solidFill>
                <a:latin typeface="Arial"/>
              </a:rPr>
              <a:t> — απαντήστε μόνο σε κλήσεις για το δικό σας διακριτικό</a:t>
            </a:r>
          </a:p>
        </p:txBody>
      </p:sp>
      <p:pic>
        <p:nvPicPr>
          <p:cNvPr id="9" name="Picture 8" descr="training-resourc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18504" y="4069080"/>
            <a:ext cx="2926080" cy="1828800"/>
          </a:xfrm>
          <a:prstGeom prst="rect">
            <a:avLst/>
          </a:prstGeom>
          <a:ln w="9525">
            <a:solidFill>
              <a:srgbClr val="C8D0DA"/>
            </a:solidFill>
          </a:ln>
        </p:spPr>
      </p:pic>
      <p:sp>
        <p:nvSpPr>
          <p:cNvPr id="10" name="TextBox 9"/>
          <p:cNvSpPr txBox="1"/>
          <p:nvPr/>
        </p:nvSpPr>
        <p:spPr>
          <a:xfrm>
            <a:off x="9381744" y="4343400"/>
            <a:ext cx="2468880" cy="146304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>
              <a:spcAft>
                <a:spcPts val="400"/>
              </a:spcAft>
            </a:pPr>
            <a:r>
              <a:rPr b="1" sz="1300">
                <a:solidFill>
                  <a:srgbClr val="000061"/>
                </a:solidFill>
                <a:latin typeface="Arial"/>
              </a:rPr>
              <a:t>Διαχείριση πόρων</a:t>
            </a:r>
            <a:r>
              <a:rPr sz="1300">
                <a:solidFill>
                  <a:srgbClr val="000061"/>
                </a:solidFill>
                <a:latin typeface="Arial"/>
              </a:rPr>
              <a:t> — κρατήστε τις δεξαμενές A και B στο επίπεδο-στόχο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3504" y="6263640"/>
            <a:ext cx="10972800" cy="36576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>
              <a:spcAft>
                <a:spcPts val="400"/>
              </a:spcAft>
            </a:pPr>
            <a:r>
              <a:rPr sz="1300">
                <a:solidFill>
                  <a:srgbClr val="555F6B"/>
                </a:solidFill>
                <a:latin typeface="Arial"/>
              </a:rPr>
              <a:t>Επίδειξη εκπαιδευτικού · Προεπιλογές → Λειτουργίες εκπαίδευσης: μία εργασία τη φορά στον προβολέα. Όχι QR μαθητών ακόμη.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latin typeface="Arial"/>
              </a:rPr>
              <a:t>Δοκιμαστική εκτέλεση MATB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3504" y="1920240"/>
            <a:ext cx="3931920" cy="420624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>
              <a:spcAft>
                <a:spcPts val="1000"/>
              </a:spcAft>
            </a:pPr>
            <a:r>
              <a:rPr sz="1800">
                <a:solidFill>
                  <a:srgbClr val="000061"/>
                </a:solidFill>
                <a:latin typeface="Arial"/>
              </a:rPr>
              <a:t>Όλοι: μία εκτέλεση εξάσκησης (2 λεπτά)</a:t>
            </a:r>
          </a:p>
          <a:p>
            <a:pPr>
              <a:spcAft>
                <a:spcPts val="1000"/>
              </a:spcAft>
            </a:pPr>
            <a:r>
              <a:rPr sz="1800">
                <a:solidFill>
                  <a:srgbClr val="000061"/>
                </a:solidFill>
                <a:latin typeface="Arial"/>
              </a:rPr>
              <a:t>Μην βγείτε — αφήστε τον χρόνο να τελειώσει</a:t>
            </a:r>
          </a:p>
          <a:p>
            <a:pPr>
              <a:spcAft>
                <a:spcPts val="1000"/>
              </a:spcAft>
            </a:pPr>
            <a:r>
              <a:rPr sz="1800">
                <a:solidFill>
                  <a:srgbClr val="000061"/>
                </a:solidFill>
                <a:latin typeface="Arial"/>
              </a:rPr>
              <a:t>Στο τέλος: διαβάστε την </a:t>
            </a:r>
            <a:r>
              <a:rPr b="1" sz="1800">
                <a:solidFill>
                  <a:srgbClr val="000061"/>
                </a:solidFill>
                <a:latin typeface="Arial"/>
              </a:rPr>
              <a:t>Τελική βαθμολογία</a:t>
            </a:r>
            <a:r>
              <a:rPr sz="1800">
                <a:solidFill>
                  <a:srgbClr val="000061"/>
                </a:solidFill>
                <a:latin typeface="Arial"/>
              </a:rPr>
              <a:t> στο επάνω μέρος</a:t>
            </a:r>
          </a:p>
          <a:p>
            <a:pPr>
              <a:spcAft>
                <a:spcPts val="1000"/>
              </a:spcAft>
            </a:pPr>
            <a:r>
              <a:rPr sz="1800">
                <a:solidFill>
                  <a:srgbClr val="000061"/>
                </a:solidFill>
                <a:latin typeface="Arial"/>
              </a:rPr>
              <a:t>Αν ένα πλαίσιο ζητήσει όνομα: πατήστε </a:t>
            </a:r>
            <a:r>
              <a:rPr b="1" sz="1800">
                <a:solidFill>
                  <a:srgbClr val="000061"/>
                </a:solidFill>
                <a:latin typeface="Arial"/>
              </a:rPr>
              <a:t>Παράλειψη</a:t>
            </a:r>
            <a:r>
              <a:rPr sz="1800">
                <a:solidFill>
                  <a:srgbClr val="000061"/>
                </a:solidFill>
                <a:latin typeface="Arial"/>
              </a:rPr>
              <a:t> — όχι πραγματικά ονόματα</a:t>
            </a:r>
          </a:p>
        </p:txBody>
      </p:sp>
      <p:pic>
        <p:nvPicPr>
          <p:cNvPr id="4" name="Picture 3" descr="matb-e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0" y="2114550"/>
            <a:ext cx="4206240" cy="2628899"/>
          </a:xfrm>
          <a:prstGeom prst="rect">
            <a:avLst/>
          </a:prstGeom>
          <a:ln w="9525">
            <a:solidFill>
              <a:srgbClr val="C8D0DA"/>
            </a:solidFill>
          </a:ln>
        </p:spPr>
      </p:pic>
      <p:sp>
        <p:nvSpPr>
          <p:cNvPr id="5" name="Rounded Rectangle 4"/>
          <p:cNvSpPr/>
          <p:nvPr/>
        </p:nvSpPr>
        <p:spPr>
          <a:xfrm>
            <a:off x="9189720" y="1920240"/>
            <a:ext cx="2395728" cy="30632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C8D0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matb-2min-e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36024" y="2011680"/>
            <a:ext cx="2103120" cy="210312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9189720" y="4160520"/>
            <a:ext cx="2395728" cy="73152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>
                <a:solidFill>
                  <a:srgbClr val="000061"/>
                </a:solidFill>
                <a:latin typeface="Arial"/>
              </a:rPr>
              <a:t>Σαρώστε για άνοιγμα</a:t>
            </a:r>
          </a:p>
          <a:p>
            <a:pPr algn="ctr">
              <a:spcAft>
                <a:spcPts val="400"/>
              </a:spcAft>
            </a:pPr>
            <a:r>
              <a:rPr b="1" sz="1100">
                <a:solidFill>
                  <a:srgbClr val="000061"/>
                </a:solidFill>
                <a:latin typeface="Arial"/>
              </a:rPr>
              <a:t>/2min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754880" y="5074920"/>
            <a:ext cx="6858000" cy="36576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>
              <a:spcAft>
                <a:spcPts val="400"/>
              </a:spcAft>
            </a:pPr>
            <a:r>
              <a:rPr sz="1100">
                <a:solidFill>
                  <a:srgbClr val="555F6B"/>
                </a:solidFill>
                <a:latin typeface="Arial"/>
              </a:rPr>
              <a:t>magkosm.github.io/orbarch-edu/2min?lng=el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0" y="5394960"/>
            <a:ext cx="6858000" cy="73152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>
              <a:spcAft>
                <a:spcPts val="400"/>
              </a:spcAft>
            </a:pPr>
            <a:r>
              <a:rPr sz="1200">
                <a:solidFill>
                  <a:srgbClr val="555F6B"/>
                </a:solidFill>
                <a:latin typeface="Arial"/>
              </a:rPr>
              <a:t>Οθόνη τέλους: Τελική βαθμολογία επάνω· το πλαίσιο υψηλής βαθμολογίας μπορεί να παραλειφθεί.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latin typeface="Arial"/>
              </a:rPr>
              <a:t>Εργαστήριο συνθηκών — ησυχία έναντι θορύβου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3504" y="1920240"/>
            <a:ext cx="3931920" cy="420624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>
              <a:spcAft>
                <a:spcPts val="1000"/>
              </a:spcAft>
            </a:pPr>
            <a:r>
              <a:rPr sz="1800">
                <a:solidFill>
                  <a:srgbClr val="000061"/>
                </a:solidFill>
                <a:latin typeface="Arial"/>
              </a:rPr>
              <a:t>① Εκτέλεση σε ησυχία — όλοι μαζί, ηχεία κλειστά</a:t>
            </a:r>
          </a:p>
          <a:p>
            <a:pPr>
              <a:spcAft>
                <a:spcPts val="1000"/>
              </a:spcAft>
            </a:pPr>
            <a:r>
              <a:rPr sz="1800">
                <a:solidFill>
                  <a:srgbClr val="000061"/>
                </a:solidFill>
                <a:latin typeface="Arial"/>
              </a:rPr>
              <a:t>② Εκτέλεση με θόρυβο καμπίνας — όλοι μαζί, ηχεία ανοιχτά</a:t>
            </a:r>
          </a:p>
          <a:p>
            <a:pPr>
              <a:spcAft>
                <a:spcPts val="1000"/>
              </a:spcAft>
            </a:pPr>
            <a:r>
              <a:rPr sz="1800">
                <a:solidFill>
                  <a:srgbClr val="000061"/>
                </a:solidFill>
                <a:latin typeface="Arial"/>
              </a:rPr>
              <a:t>Πληκτρολογήστε και τις δύο βαθμολογίες στο Εργαστήριο συνθηκών</a:t>
            </a:r>
          </a:p>
          <a:p>
            <a:pPr>
              <a:spcAft>
                <a:spcPts val="1000"/>
              </a:spcAft>
            </a:pPr>
            <a:r>
              <a:rPr sz="1800">
                <a:solidFill>
                  <a:srgbClr val="000061"/>
                </a:solidFill>
                <a:latin typeface="Arial"/>
              </a:rPr>
              <a:t>Διαβάστε την </a:t>
            </a:r>
            <a:r>
              <a:rPr b="1" sz="1800">
                <a:solidFill>
                  <a:srgbClr val="000061"/>
                </a:solidFill>
                <a:latin typeface="Arial"/>
              </a:rPr>
              <a:t>% αλλαγή</a:t>
            </a:r>
            <a:r>
              <a:rPr sz="1800">
                <a:solidFill>
                  <a:srgbClr val="000061"/>
                </a:solidFill>
                <a:latin typeface="Arial"/>
              </a:rPr>
              <a:t> και αντιγράψτε την στο φύλλο εργασίας</a:t>
            </a:r>
          </a:p>
        </p:txBody>
      </p:sp>
      <p:pic>
        <p:nvPicPr>
          <p:cNvPr id="4" name="Picture 3" descr="condition-lab-resul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0" y="2114550"/>
            <a:ext cx="4206240" cy="2628899"/>
          </a:xfrm>
          <a:prstGeom prst="rect">
            <a:avLst/>
          </a:prstGeom>
          <a:ln w="9525">
            <a:solidFill>
              <a:srgbClr val="C8D0DA"/>
            </a:solidFill>
          </a:ln>
        </p:spPr>
      </p:pic>
      <p:sp>
        <p:nvSpPr>
          <p:cNvPr id="5" name="Rounded Rectangle 4"/>
          <p:cNvSpPr/>
          <p:nvPr/>
        </p:nvSpPr>
        <p:spPr>
          <a:xfrm>
            <a:off x="9189720" y="1920240"/>
            <a:ext cx="2395728" cy="30632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C8D0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condition-lab-e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36024" y="2011680"/>
            <a:ext cx="2103120" cy="210312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9189720" y="4160520"/>
            <a:ext cx="2395728" cy="73152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>
                <a:solidFill>
                  <a:srgbClr val="000061"/>
                </a:solidFill>
                <a:latin typeface="Arial"/>
              </a:rPr>
              <a:t>Σαρώστε για άνοιγμα</a:t>
            </a:r>
          </a:p>
          <a:p>
            <a:pPr algn="ctr">
              <a:spcAft>
                <a:spcPts val="400"/>
              </a:spcAft>
            </a:pPr>
            <a:r>
              <a:rPr b="1" sz="1100">
                <a:solidFill>
                  <a:srgbClr val="000061"/>
                </a:solidFill>
                <a:latin typeface="Arial"/>
              </a:rPr>
              <a:t>/condition-lab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754880" y="5074920"/>
            <a:ext cx="6858000" cy="36576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>
              <a:spcAft>
                <a:spcPts val="400"/>
              </a:spcAft>
            </a:pPr>
            <a:r>
              <a:rPr sz="1100">
                <a:solidFill>
                  <a:srgbClr val="555F6B"/>
                </a:solidFill>
                <a:latin typeface="Arial"/>
              </a:rPr>
              <a:t>magkosm.github.io/orbarch-edu/condition-lab?lng=el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0" y="5394960"/>
            <a:ext cx="6858000" cy="73152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>
              <a:spcAft>
                <a:spcPts val="400"/>
              </a:spcAft>
            </a:pPr>
            <a:r>
              <a:rPr sz="1200">
                <a:solidFill>
                  <a:srgbClr val="555F6B"/>
                </a:solidFill>
                <a:latin typeface="Arial"/>
              </a:rPr>
              <a:t>Με τις δύο βαθμολογίες: εμφανίζονται η σύγκριση και η % αλλαγή.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latin typeface="Arial"/>
              </a:rPr>
              <a:t>Μάθηση και πλατό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603504" y="1828800"/>
          <a:ext cx="6949440" cy="43891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7863840" y="1920240"/>
            <a:ext cx="3749039" cy="420624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>
              <a:spcAft>
                <a:spcPts val="1000"/>
              </a:spcAft>
            </a:pPr>
            <a:r>
              <a:rPr sz="1600">
                <a:solidFill>
                  <a:srgbClr val="000061"/>
                </a:solidFill>
                <a:latin typeface="Arial"/>
              </a:rPr>
              <a:t>Όπως ένα νέο άθλημα: βελτιώνεστε γρήγορα, μετά φτάνετε σε </a:t>
            </a:r>
            <a:r>
              <a:rPr b="1" sz="1600">
                <a:solidFill>
                  <a:srgbClr val="000061"/>
                </a:solidFill>
                <a:latin typeface="Arial"/>
              </a:rPr>
              <a:t>πλατό</a:t>
            </a:r>
          </a:p>
          <a:p>
            <a:pPr>
              <a:spcAft>
                <a:spcPts val="1000"/>
              </a:spcAft>
            </a:pPr>
            <a:r>
              <a:rPr sz="1600">
                <a:solidFill>
                  <a:srgbClr val="000061"/>
                </a:solidFill>
                <a:latin typeface="Arial"/>
              </a:rPr>
              <a:t>Οι ημερήσιες διακυμάνσεις μένουν — ύπνος, διάθεση, φαγητό</a:t>
            </a:r>
          </a:p>
          <a:p>
            <a:pPr>
              <a:spcAft>
                <a:spcPts val="1000"/>
              </a:spcAft>
            </a:pPr>
            <a:r>
              <a:rPr sz="1600">
                <a:solidFill>
                  <a:srgbClr val="000061"/>
                </a:solidFill>
                <a:latin typeface="Arial"/>
              </a:rPr>
              <a:t>Οι πραγματικές μελέτες επαναλαμβάνουν μέχρι να σταθεροποιηθούν οι βαθμολογίες, </a:t>
            </a:r>
            <a:r>
              <a:rPr b="1" sz="1600">
                <a:solidFill>
                  <a:srgbClr val="000061"/>
                </a:solidFill>
                <a:latin typeface="Arial"/>
              </a:rPr>
              <a:t>μετά</a:t>
            </a:r>
            <a:r>
              <a:rPr sz="1600">
                <a:solidFill>
                  <a:srgbClr val="000061"/>
                </a:solidFill>
                <a:latin typeface="Arial"/>
              </a:rPr>
              <a:t> ελέγχουν συνθήκες</a:t>
            </a:r>
          </a:p>
          <a:p>
            <a:pPr>
              <a:spcAft>
                <a:spcPts val="1000"/>
              </a:spcAft>
            </a:pPr>
            <a:r>
              <a:rPr sz="1600">
                <a:solidFill>
                  <a:srgbClr val="000061"/>
                </a:solidFill>
                <a:latin typeface="Arial"/>
              </a:rPr>
              <a:t>Σήμερα παίρνετε μια γεύση από αυτό το πρωτόκολλο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latin typeface="Arial"/>
              </a:rPr>
              <a:t>Προσομοιωτής αρχιτεκτονικής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3504" y="1920240"/>
            <a:ext cx="3931920" cy="420624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>
              <a:spcAft>
                <a:spcPts val="1000"/>
              </a:spcAft>
            </a:pPr>
            <a:r>
              <a:rPr sz="1800">
                <a:solidFill>
                  <a:srgbClr val="000061"/>
                </a:solidFill>
                <a:latin typeface="Arial"/>
              </a:rPr>
              <a:t>Ένα ενδεικτικό μοντέλο εμπνευσμένο από την έρευνα</a:t>
            </a:r>
          </a:p>
          <a:p>
            <a:pPr>
              <a:spcAft>
                <a:spcPts val="1000"/>
              </a:spcAft>
            </a:pPr>
            <a:r>
              <a:rPr sz="1800">
                <a:solidFill>
                  <a:srgbClr val="000061"/>
                </a:solidFill>
                <a:latin typeface="Arial"/>
              </a:rPr>
              <a:t>Ρυθμιστικά: θόρυβος · φως · ακαταστασία · βιοφιλία</a:t>
            </a:r>
          </a:p>
          <a:p>
            <a:pPr>
              <a:spcAft>
                <a:spcPts val="1000"/>
              </a:spcAft>
            </a:pPr>
            <a:r>
              <a:rPr sz="1800">
                <a:solidFill>
                  <a:srgbClr val="000061"/>
                </a:solidFill>
                <a:latin typeface="Arial"/>
              </a:rPr>
              <a:t>Δείτε πώς κινούνται προσοχή, εργαζόμενη μνήμη και στρες</a:t>
            </a:r>
          </a:p>
          <a:p>
            <a:pPr>
              <a:spcAft>
                <a:spcPts val="1000"/>
              </a:spcAft>
            </a:pPr>
            <a:r>
              <a:rPr sz="1800">
                <a:solidFill>
                  <a:srgbClr val="000061"/>
                </a:solidFill>
                <a:latin typeface="Arial"/>
              </a:rPr>
              <a:t>Βρείτε την καλύτερη και τη χειρότερη καμπίνα</a:t>
            </a:r>
          </a:p>
        </p:txBody>
      </p:sp>
      <p:pic>
        <p:nvPicPr>
          <p:cNvPr id="4" name="Picture 3" descr="simulato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0" y="2114550"/>
            <a:ext cx="4206240" cy="2628899"/>
          </a:xfrm>
          <a:prstGeom prst="rect">
            <a:avLst/>
          </a:prstGeom>
          <a:ln w="9525">
            <a:solidFill>
              <a:srgbClr val="C8D0DA"/>
            </a:solidFill>
          </a:ln>
        </p:spPr>
      </p:pic>
      <p:sp>
        <p:nvSpPr>
          <p:cNvPr id="5" name="Rounded Rectangle 4"/>
          <p:cNvSpPr/>
          <p:nvPr/>
        </p:nvSpPr>
        <p:spPr>
          <a:xfrm>
            <a:off x="9189720" y="1920240"/>
            <a:ext cx="2395728" cy="30632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C8D0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simulator-e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36024" y="2011680"/>
            <a:ext cx="2103120" cy="210312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9189720" y="4160520"/>
            <a:ext cx="2395728" cy="73152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>
                <a:solidFill>
                  <a:srgbClr val="000061"/>
                </a:solidFill>
                <a:latin typeface="Arial"/>
              </a:rPr>
              <a:t>Σαρώστε για άνοιγμα</a:t>
            </a:r>
          </a:p>
          <a:p>
            <a:pPr algn="ctr">
              <a:spcAft>
                <a:spcPts val="400"/>
              </a:spcAft>
            </a:pPr>
            <a:r>
              <a:rPr b="1" sz="1100">
                <a:solidFill>
                  <a:srgbClr val="000061"/>
                </a:solidFill>
                <a:latin typeface="Arial"/>
              </a:rPr>
              <a:t>/simulator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754880" y="5074920"/>
            <a:ext cx="6858000" cy="36576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>
              <a:spcAft>
                <a:spcPts val="400"/>
              </a:spcAft>
            </a:pPr>
            <a:r>
              <a:rPr sz="1100">
                <a:solidFill>
                  <a:srgbClr val="555F6B"/>
                </a:solidFill>
                <a:latin typeface="Arial"/>
              </a:rPr>
              <a:t>magkosm.github.io/orbarch-edu/simulator?lng=el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0" y="5394960"/>
            <a:ext cx="6858000" cy="73152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>
              <a:spcAft>
                <a:spcPts val="400"/>
              </a:spcAft>
            </a:pPr>
            <a:r>
              <a:rPr sz="1200">
                <a:solidFill>
                  <a:srgbClr val="555F6B"/>
                </a:solidFill>
                <a:latin typeface="Arial"/>
              </a:rPr>
              <a:t>Σύρετε τα ρυθμιστικά· οι μπάρες ενημερώνονται ζωντανά.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latin typeface="Arial"/>
              </a:rPr>
              <a:t>Σχεδιαστής κάτοψης — ενημέρωση αποστολής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3504" y="1920240"/>
            <a:ext cx="3931920" cy="420624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>
              <a:spcAft>
                <a:spcPts val="1000"/>
              </a:spcAft>
            </a:pPr>
            <a:r>
              <a:rPr sz="1600">
                <a:solidFill>
                  <a:srgbClr val="000061"/>
                </a:solidFill>
                <a:latin typeface="Arial"/>
              </a:rPr>
              <a:t>Σχεδιάστε μια μονάδα σταθμού στο πλέγμα</a:t>
            </a:r>
          </a:p>
          <a:p>
            <a:pPr>
              <a:spcAft>
                <a:spcPts val="1000"/>
              </a:spcAft>
            </a:pPr>
            <a:r>
              <a:rPr sz="1600">
                <a:solidFill>
                  <a:srgbClr val="000061"/>
                </a:solidFill>
                <a:latin typeface="Arial"/>
              </a:rPr>
              <a:t>Νόηση πληρώματος </a:t>
            </a:r>
            <a:r>
              <a:rPr b="1" sz="1600">
                <a:solidFill>
                  <a:srgbClr val="000061"/>
                </a:solidFill>
                <a:latin typeface="Arial"/>
              </a:rPr>
              <a:t>έναντι</a:t>
            </a:r>
            <a:r>
              <a:rPr sz="1600">
                <a:solidFill>
                  <a:srgbClr val="000061"/>
                </a:solidFill>
                <a:latin typeface="Arial"/>
              </a:rPr>
              <a:t> επιστήμης και μηχανικής — κάθε στοιχείο είναι συμβιβασμός</a:t>
            </a:r>
          </a:p>
          <a:p>
            <a:pPr>
              <a:spcAft>
                <a:spcPts val="1000"/>
              </a:spcAft>
            </a:pPr>
            <a:r>
              <a:rPr sz="1600">
                <a:solidFill>
                  <a:srgbClr val="000061"/>
                </a:solidFill>
                <a:latin typeface="Arial"/>
              </a:rPr>
              <a:t>Κάθε μονάδα χρειάζεται ελεύθερο διάδρομο προς την </a:t>
            </a:r>
            <a:r>
              <a:rPr b="1" sz="1600">
                <a:solidFill>
                  <a:srgbClr val="000061"/>
                </a:solidFill>
                <a:latin typeface="Arial"/>
              </a:rPr>
              <a:t>είσοδο</a:t>
            </a:r>
          </a:p>
          <a:p>
            <a:pPr>
              <a:spcAft>
                <a:spcPts val="1000"/>
              </a:spcAft>
            </a:pPr>
            <a:r>
              <a:rPr sz="1600">
                <a:solidFill>
                  <a:srgbClr val="000061"/>
                </a:solidFill>
                <a:latin typeface="Arial"/>
              </a:rPr>
              <a:t>Στόχος: </a:t>
            </a:r>
            <a:r>
              <a:rPr b="1" sz="1600">
                <a:solidFill>
                  <a:srgbClr val="000061"/>
                </a:solidFill>
                <a:latin typeface="Arial"/>
              </a:rPr>
              <a:t>Επιτυχία αποστολής ≥ 70</a:t>
            </a:r>
          </a:p>
        </p:txBody>
      </p:sp>
      <p:pic>
        <p:nvPicPr>
          <p:cNvPr id="4" name="Picture 3" descr="blueprint-scenari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0" y="2114550"/>
            <a:ext cx="4206240" cy="2628899"/>
          </a:xfrm>
          <a:prstGeom prst="rect">
            <a:avLst/>
          </a:prstGeom>
          <a:ln w="9525">
            <a:solidFill>
              <a:srgbClr val="C8D0DA"/>
            </a:solidFill>
          </a:ln>
        </p:spPr>
      </p:pic>
      <p:sp>
        <p:nvSpPr>
          <p:cNvPr id="5" name="Rounded Rectangle 4"/>
          <p:cNvSpPr/>
          <p:nvPr/>
        </p:nvSpPr>
        <p:spPr>
          <a:xfrm>
            <a:off x="9189720" y="1920240"/>
            <a:ext cx="2395728" cy="30632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C8D0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blueprint-e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36024" y="2011680"/>
            <a:ext cx="2103120" cy="210312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9189720" y="4160520"/>
            <a:ext cx="2395728" cy="73152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>
                <a:solidFill>
                  <a:srgbClr val="000061"/>
                </a:solidFill>
                <a:latin typeface="Arial"/>
              </a:rPr>
              <a:t>Σαρώστε για άνοιγμα</a:t>
            </a:r>
          </a:p>
          <a:p>
            <a:pPr algn="ctr">
              <a:spcAft>
                <a:spcPts val="400"/>
              </a:spcAft>
            </a:pPr>
            <a:r>
              <a:rPr b="1" sz="1100">
                <a:solidFill>
                  <a:srgbClr val="000061"/>
                </a:solidFill>
                <a:latin typeface="Arial"/>
              </a:rPr>
              <a:t>/blueprint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754880" y="5074920"/>
            <a:ext cx="6858000" cy="36576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>
              <a:spcAft>
                <a:spcPts val="400"/>
              </a:spcAft>
            </a:pPr>
            <a:r>
              <a:rPr sz="1100">
                <a:solidFill>
                  <a:srgbClr val="555F6B"/>
                </a:solidFill>
                <a:latin typeface="Arial"/>
              </a:rPr>
              <a:t>magkosm.github.io/orbarch-edu/blueprint?lng=el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0" y="5394960"/>
            <a:ext cx="6858000" cy="73152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>
              <a:spcAft>
                <a:spcPts val="400"/>
              </a:spcAft>
            </a:pPr>
            <a:r>
              <a:rPr sz="1200">
                <a:solidFill>
                  <a:srgbClr val="555F6B"/>
                </a:solidFill>
                <a:latin typeface="Arial"/>
              </a:rPr>
              <a:t>Η Φόρτωση σεναρίου δίνει μια αρχική διάταξη· η λίστα της ενημέρωσης πρασινίζει καθώς προχωράτε.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latin typeface="Arial"/>
              </a:rPr>
              <a:t>Εργαστήριο μοντέλων (προαιρετικό)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3504" y="1920240"/>
            <a:ext cx="3931920" cy="420624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>
              <a:spcAft>
                <a:spcPts val="1000"/>
              </a:spcAft>
            </a:pPr>
            <a:r>
              <a:rPr sz="1800">
                <a:solidFill>
                  <a:srgbClr val="000061"/>
                </a:solidFill>
                <a:latin typeface="Arial"/>
              </a:rPr>
              <a:t>Φτιάξτε τον δικό σας προσομοιωτή</a:t>
            </a:r>
          </a:p>
          <a:p>
            <a:pPr>
              <a:spcAft>
                <a:spcPts val="1000"/>
              </a:spcAft>
            </a:pPr>
            <a:r>
              <a:rPr sz="1800">
                <a:solidFill>
                  <a:srgbClr val="000061"/>
                </a:solidFill>
                <a:latin typeface="Arial"/>
              </a:rPr>
              <a:t>Προσθέστε εισόδους και αποτελέσματα από τη λίστα του πίνακα</a:t>
            </a:r>
          </a:p>
          <a:p>
            <a:pPr>
              <a:spcAft>
                <a:spcPts val="1000"/>
              </a:spcAft>
            </a:pPr>
            <a:r>
              <a:rPr sz="1800">
                <a:solidFill>
                  <a:srgbClr val="000061"/>
                </a:solidFill>
                <a:latin typeface="Arial"/>
              </a:rPr>
              <a:t>Οι πράσινες συνδέσεις βοηθούν, οι κόκκινες βλάπτουν</a:t>
            </a:r>
          </a:p>
          <a:p>
            <a:pPr>
              <a:spcAft>
                <a:spcPts val="1000"/>
              </a:spcAft>
            </a:pPr>
            <a:r>
              <a:rPr sz="1800">
                <a:solidFill>
                  <a:srgbClr val="000061"/>
                </a:solidFill>
                <a:latin typeface="Arial"/>
              </a:rPr>
              <a:t>Αν αυτό το αποτέλεσμα μετράει, για τι πρέπει να σχεδιάζουμε;</a:t>
            </a:r>
          </a:p>
        </p:txBody>
      </p:sp>
      <p:pic>
        <p:nvPicPr>
          <p:cNvPr id="4" name="Picture 3" descr="model-lab-ma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0" y="2114550"/>
            <a:ext cx="4206240" cy="2628899"/>
          </a:xfrm>
          <a:prstGeom prst="rect">
            <a:avLst/>
          </a:prstGeom>
          <a:ln w="9525">
            <a:solidFill>
              <a:srgbClr val="C8D0DA"/>
            </a:solidFill>
          </a:ln>
        </p:spPr>
      </p:pic>
      <p:sp>
        <p:nvSpPr>
          <p:cNvPr id="5" name="Rounded Rectangle 4"/>
          <p:cNvSpPr/>
          <p:nvPr/>
        </p:nvSpPr>
        <p:spPr>
          <a:xfrm>
            <a:off x="9189720" y="1920240"/>
            <a:ext cx="2395728" cy="30632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C8D0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model-lab-e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36024" y="2011680"/>
            <a:ext cx="2103120" cy="210312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9189720" y="4160520"/>
            <a:ext cx="2395728" cy="73152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>
                <a:solidFill>
                  <a:srgbClr val="000061"/>
                </a:solidFill>
                <a:latin typeface="Arial"/>
              </a:rPr>
              <a:t>Σαρώστε για άνοιγμα</a:t>
            </a:r>
          </a:p>
          <a:p>
            <a:pPr algn="ctr">
              <a:spcAft>
                <a:spcPts val="400"/>
              </a:spcAft>
            </a:pPr>
            <a:r>
              <a:rPr b="1" sz="1100">
                <a:solidFill>
                  <a:srgbClr val="000061"/>
                </a:solidFill>
                <a:latin typeface="Arial"/>
              </a:rPr>
              <a:t>/model-lab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754880" y="5074920"/>
            <a:ext cx="6858000" cy="36576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>
              <a:spcAft>
                <a:spcPts val="400"/>
              </a:spcAft>
            </a:pPr>
            <a:r>
              <a:rPr sz="1100">
                <a:solidFill>
                  <a:srgbClr val="555F6B"/>
                </a:solidFill>
                <a:latin typeface="Arial"/>
              </a:rPr>
              <a:t>magkosm.github.io/orbarch-edu/model-lab?lng=el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0" y="5394960"/>
            <a:ext cx="6858000" cy="73152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>
              <a:spcAft>
                <a:spcPts val="400"/>
              </a:spcAft>
            </a:pPr>
            <a:r>
              <a:rPr sz="1200">
                <a:solidFill>
                  <a:srgbClr val="555F6B"/>
                </a:solidFill>
                <a:latin typeface="Arial"/>
              </a:rPr>
              <a:t>Ο χάρτης αλληλεπιδράσεων δείχνει κάθε σύνδεση του μοντέλου.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latin typeface="Arial"/>
              </a:rPr>
              <a:t>Εισιτήριο εξόδου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3504" y="1783080"/>
            <a:ext cx="10972800" cy="45720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>
              <a:spcAft>
                <a:spcPts val="400"/>
              </a:spcAft>
            </a:pPr>
            <a:r>
              <a:rPr sz="1600">
                <a:solidFill>
                  <a:srgbClr val="555F6B"/>
                </a:solidFill>
                <a:latin typeface="Arial"/>
              </a:rPr>
              <a:t>Δύο post-it ανά μαθητή — γράψτε το όνομά σας σε καθένα.</a:t>
            </a:r>
          </a:p>
        </p:txBody>
      </p:sp>
      <p:sp>
        <p:nvSpPr>
          <p:cNvPr id="4" name="Rectangle 3"/>
          <p:cNvSpPr/>
          <p:nvPr/>
        </p:nvSpPr>
        <p:spPr>
          <a:xfrm rot="21480000">
            <a:off x="1463040" y="2468880"/>
            <a:ext cx="4114800" cy="3291840"/>
          </a:xfrm>
          <a:prstGeom prst="rect">
            <a:avLst/>
          </a:prstGeom>
          <a:solidFill>
            <a:srgbClr val="FFE8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200"/>
              </a:spcAft>
            </a:pPr>
            <a:r>
              <a:rPr b="1" sz="2000">
                <a:solidFill>
                  <a:srgbClr val="000061"/>
                </a:solidFill>
                <a:latin typeface="Arial"/>
              </a:rPr>
              <a:t>① Βοηθά τη νόηση</a:t>
            </a:r>
          </a:p>
          <a:p>
            <a:pPr algn="ctr">
              <a:spcAft>
                <a:spcPts val="200"/>
              </a:spcAft>
            </a:pPr>
            <a:r>
              <a:rPr sz="2000">
                <a:solidFill>
                  <a:srgbClr val="000061"/>
                </a:solidFill>
                <a:latin typeface="Arial"/>
              </a:rPr>
              <a:t>κάτι στην αρχιτεκτονική που βοηθά το μυαλό του πληρώματος</a:t>
            </a:r>
          </a:p>
        </p:txBody>
      </p:sp>
      <p:sp>
        <p:nvSpPr>
          <p:cNvPr id="5" name="Rectangle 4"/>
          <p:cNvSpPr/>
          <p:nvPr/>
        </p:nvSpPr>
        <p:spPr>
          <a:xfrm rot="120000">
            <a:off x="6583679" y="2468880"/>
            <a:ext cx="4114800" cy="3291840"/>
          </a:xfrm>
          <a:prstGeom prst="rect">
            <a:avLst/>
          </a:prstGeom>
          <a:solidFill>
            <a:srgbClr val="FFC9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200"/>
              </a:spcAft>
            </a:pPr>
            <a:r>
              <a:rPr b="1" sz="2000">
                <a:solidFill>
                  <a:srgbClr val="000061"/>
                </a:solidFill>
                <a:latin typeface="Arial"/>
              </a:rPr>
              <a:t>② Βλάπτει τη νόηση</a:t>
            </a:r>
          </a:p>
          <a:p>
            <a:pPr algn="ctr">
              <a:spcAft>
                <a:spcPts val="200"/>
              </a:spcAft>
            </a:pPr>
            <a:r>
              <a:rPr sz="2000">
                <a:solidFill>
                  <a:srgbClr val="000061"/>
                </a:solidFill>
                <a:latin typeface="Arial"/>
              </a:rPr>
              <a:t>κάτι στην αρχιτεκτονική που τη βλάπτει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3504" y="1737360"/>
            <a:ext cx="10515600" cy="1371600"/>
          </a:xfrm>
          <a:prstGeom prst="rect">
            <a:avLst/>
          </a:prstGeom>
          <a:noFill/>
        </p:spPr>
        <p:txBody>
          <a:bodyPr wrap="square" lIns="45720" rIns="45720" tIns="27432" bIns="27432" anchor="b">
            <a:spAutoFit/>
          </a:bodyPr>
          <a:lstStyle/>
          <a:p>
            <a:pPr>
              <a:spcAft>
                <a:spcPts val="400"/>
              </a:spcAft>
            </a:pPr>
            <a:r>
              <a:rPr sz="4000" b="1">
                <a:solidFill>
                  <a:srgbClr val="FFFFFF"/>
                </a:solidFill>
                <a:latin typeface="Arial"/>
              </a:rPr>
              <a:t>Τέσσερα πράγματα για το σπίτι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3504" y="3383280"/>
            <a:ext cx="10515600" cy="292608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>
              <a:spcAft>
                <a:spcPts val="1000"/>
              </a:spcAft>
            </a:pPr>
            <a:r>
              <a:rPr b="1" sz="2200">
                <a:solidFill>
                  <a:srgbClr val="FFFFFF"/>
                </a:solidFill>
                <a:latin typeface="Arial"/>
              </a:rPr>
              <a:t>Το διάστημα είναι για όλους.</a:t>
            </a:r>
          </a:p>
          <a:p>
            <a:pPr>
              <a:spcAft>
                <a:spcPts val="1000"/>
              </a:spcAft>
            </a:pPr>
            <a:r>
              <a:rPr b="1" sz="2200">
                <a:solidFill>
                  <a:srgbClr val="FFFFFF"/>
                </a:solidFill>
                <a:latin typeface="Arial"/>
              </a:rPr>
              <a:t>Η αρχιτεκτονική αφορά τους ανθρώπους.</a:t>
            </a:r>
          </a:p>
          <a:p>
            <a:pPr>
              <a:spcAft>
                <a:spcPts val="1000"/>
              </a:spcAft>
            </a:pPr>
            <a:r>
              <a:rPr b="1" sz="2200">
                <a:solidFill>
                  <a:srgbClr val="FFFFFF"/>
                </a:solidFill>
                <a:latin typeface="Arial"/>
              </a:rPr>
              <a:t>Ο σχεδιασμός είναι μια σειρά συμβιβασμών.</a:t>
            </a:r>
          </a:p>
          <a:p>
            <a:pPr>
              <a:spcAft>
                <a:spcPts val="1000"/>
              </a:spcAft>
            </a:pPr>
            <a:r>
              <a:rPr b="1" sz="2200">
                <a:solidFill>
                  <a:srgbClr val="FFFFFF"/>
                </a:solidFill>
                <a:latin typeface="Arial"/>
              </a:rPr>
              <a:t>Εσείς είστε το μέλλον της διαστημικής εξερεύνησης.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spcAft>
                <a:spcPts val="600"/>
              </a:spcAft>
            </a:pPr>
            <a:r>
              <a:rPr sz="3600">
                <a:latin typeface="Arial"/>
              </a:rPr>
              <a:t>Ευχαριστούμε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spcAft>
                <a:spcPts val="600"/>
              </a:spcAft>
            </a:pPr>
            <a:r>
              <a:rPr sz="1800">
                <a:latin typeface="Arial"/>
              </a:rPr>
              <a:t>magkosm.github.io/orbarch-edu</a:t>
            </a:r>
          </a:p>
          <a:p>
            <a:pPr>
              <a:spcAft>
                <a:spcPts val="600"/>
              </a:spcAft>
            </a:pPr>
            <a:r>
              <a:rPr sz="1800">
                <a:latin typeface="Arial"/>
              </a:rPr>
              <a:t>Orbital Architecture · KTH Βασιλικό Ινστιτούτο Τεχνολογίας · ESERO Σουηδίας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778240" y="1737360"/>
            <a:ext cx="2743200" cy="27432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hub-e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61120" y="1920240"/>
            <a:ext cx="2377440" cy="237744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778240" y="4526280"/>
            <a:ext cx="2743200" cy="36576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>
                <a:solidFill>
                  <a:srgbClr val="FFFFFF"/>
                </a:solidFill>
                <a:latin typeface="Arial"/>
              </a:rPr>
              <a:t>Ανοίξτε την εφαρμογή στο σπίτι</a:t>
            </a:r>
          </a:p>
        </p:txBody>
      </p:sp>
      <p:pic>
        <p:nvPicPr>
          <p:cNvPr id="7" name="Picture 6" descr="esero-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78240" y="5257800"/>
            <a:ext cx="1477409" cy="594360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10698480" y="5184648"/>
            <a:ext cx="822960" cy="73152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image16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771632" y="5221224"/>
            <a:ext cx="587559" cy="658368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-tema">
  <a:themeElements>
    <a:clrScheme name="KTH">
      <a:dk1>
        <a:srgbClr val="000000"/>
      </a:dk1>
      <a:lt1>
        <a:srgbClr val="FFFFFF"/>
      </a:lt1>
      <a:dk2>
        <a:srgbClr val="000061"/>
      </a:dk2>
      <a:lt2>
        <a:srgbClr val="EBE5E0"/>
      </a:lt2>
      <a:accent1>
        <a:srgbClr val="004791"/>
      </a:accent1>
      <a:accent2>
        <a:srgbClr val="6198D2"/>
      </a:accent2>
      <a:accent3>
        <a:srgbClr val="000061"/>
      </a:accent3>
      <a:accent4>
        <a:srgbClr val="DEF0FF"/>
      </a:accent4>
      <a:accent5>
        <a:srgbClr val="EBE5DF"/>
      </a:accent5>
      <a:accent6>
        <a:srgbClr val="0028ED"/>
      </a:accent6>
      <a:hlink>
        <a:srgbClr val="3878C2"/>
      </a:hlink>
      <a:folHlink>
        <a:srgbClr val="004691"/>
      </a:folHlink>
    </a:clrScheme>
    <a:fontScheme name="Office">
      <a:majorFont>
        <a:latin typeface="Figtree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Figtree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ln>
          <a:noFill/>
        </a:ln>
      </a:spPr>
      <a:bodyPr rtlCol="0" anchor="ctr"/>
      <a:lstStyle>
        <a:defPPr algn="ctr">
          <a:defRPr dirty="0"/>
        </a:defPPr>
      </a:lstStyle>
      <a:style>
        <a:lnRef idx="2">
          <a:schemeClr val="accent1">
            <a:shade val="15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custClrLst>
    <a:custClr name="Sand">
      <a:srgbClr val="EBE5E0"/>
    </a:custClr>
    <a:custClr name="KTH blue">
      <a:srgbClr val="004791"/>
    </a:custClr>
    <a:custClr name="Sky blue">
      <a:srgbClr val="6298D2"/>
    </a:custClr>
    <a:custClr name="Navy blue">
      <a:srgbClr val="000061"/>
    </a:custClr>
    <a:custClr name="Light blue">
      <a:srgbClr val="DEF0FF"/>
    </a:custClr>
    <a:custClr name="Digital blue">
      <a:srgbClr val="0029ED"/>
    </a:custClr>
    <a:custClr name="Blank">
      <a:srgbClr val="FFFFFF"/>
    </a:custClr>
    <a:custClr name="Blank">
      <a:srgbClr val="FFFFFF"/>
    </a:custClr>
    <a:custClr name="Blank">
      <a:srgbClr val="FFFFFF"/>
    </a:custClr>
    <a:custClr name="Blank">
      <a:srgbClr val="FFFFFF"/>
    </a:custClr>
    <a:custClr name="Dark green">
      <a:srgbClr val="0D4A21"/>
    </a:custClr>
    <a:custClr name="Dark turquoise">
      <a:srgbClr val="1C434C"/>
    </a:custClr>
    <a:custClr name="Dark brick">
      <a:srgbClr val="78001A"/>
    </a:custClr>
    <a:custClr name="Dark yellow">
      <a:srgbClr val="A65900"/>
    </a:custClr>
    <a:custClr name="Dark grey">
      <a:srgbClr val="323232"/>
    </a:custClr>
    <a:custClr name="Blank">
      <a:srgbClr val="FFFFFF"/>
    </a:custClr>
    <a:custClr name="Blank">
      <a:srgbClr val="FFFFFF"/>
    </a:custClr>
    <a:custClr name="Blank">
      <a:srgbClr val="FFFFFF"/>
    </a:custClr>
    <a:custClr name="Blank">
      <a:srgbClr val="FFFFFF"/>
    </a:custClr>
    <a:custClr name="Blank">
      <a:srgbClr val="FFFFFF"/>
    </a:custClr>
    <a:custClr name="Green">
      <a:srgbClr val="4DA060"/>
    </a:custClr>
    <a:custClr name="Turquoise">
      <a:srgbClr val="339C9C"/>
    </a:custClr>
    <a:custClr name="Brick">
      <a:srgbClr val="E86A58"/>
    </a:custClr>
    <a:custClr name="Yellow">
      <a:srgbClr val="FFBE00"/>
    </a:custClr>
    <a:custClr name="Grey">
      <a:srgbClr val="A5A5A5"/>
    </a:custClr>
    <a:custClr name="Blank">
      <a:srgbClr val="FFFFFF"/>
    </a:custClr>
    <a:custClr name="Blank">
      <a:srgbClr val="FFFFFF"/>
    </a:custClr>
    <a:custClr name="Blank">
      <a:srgbClr val="FFFFFF"/>
    </a:custClr>
    <a:custClr name="Blank">
      <a:srgbClr val="FFFFFF"/>
    </a:custClr>
    <a:custClr name="Blank">
      <a:srgbClr val="FFFFFF"/>
    </a:custClr>
    <a:custClr name="Light green">
      <a:srgbClr val="C7EBBA"/>
    </a:custClr>
    <a:custClr name="Light turquoise">
      <a:srgbClr val="B2E0E0"/>
    </a:custClr>
    <a:custClr name="Light brick">
      <a:srgbClr val="FFCCC4"/>
    </a:custClr>
    <a:custClr name="Light yellow">
      <a:srgbClr val="FFF0B0"/>
    </a:custClr>
    <a:custClr name="Light grey">
      <a:srgbClr val="E6E6E6"/>
    </a:custClr>
  </a:custClrLst>
  <a:extLst>
    <a:ext uri="{05A4C25C-085E-4340-85A3-A5531E510DB2}">
      <thm15:themeFamily xmlns:thm15="http://schemas.microsoft.com/office/thememl/2012/main" name="KTH PPT template 251203.potx" id="{B9D87BD4-659E-40F0-9595-7EDEBA7F7B08}" vid="{8372EC08-571E-42EA-AAF5-CEC4489AF2D9}"/>
    </a:ext>
  </a:extLst>
</a:theme>
</file>

<file path=ppt/theme/theme2.xml><?xml version="1.0" encoding="utf-8"?>
<a:theme xmlns:a="http://schemas.openxmlformats.org/drawingml/2006/main" name="Office-tema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_rels/item4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4.xml"/></Relationships>
</file>

<file path=customXml/item1.xml><?xml version="1.0" encoding="utf-8"?>
<?mso-contentType ?>
<spe:Receivers xmlns:spe="http://schemas.microsoft.com/sharepoint/events">
  <Receiver>
    <Name>Document ID Generator</Name>
    <Synchronization>Synchronous</Synchronization>
    <Type>10001</Type>
    <SequenceNumber>1000</SequenceNumber>
    <Url/>
    <Assembly>Microsoft.Office.DocumentManagement, Version=16.0.0.0, Culture=neutral, PublicKeyToken=71e9bce111e9429c</Assembly>
    <Class>Microsoft.Office.DocumentManagement.Internal.DocIdHandler</Class>
    <Data/>
    <Filter/>
  </Receiver>
  <Receiver>
    <Name>Document ID Generator</Name>
    <Synchronization>Synchronous</Synchronization>
    <Type>10002</Type>
    <SequenceNumber>1001</SequenceNumber>
    <Url/>
    <Assembly>Microsoft.Office.DocumentManagement, Version=16.0.0.0, Culture=neutral, PublicKeyToken=71e9bce111e9429c</Assembly>
    <Class>Microsoft.Office.DocumentManagement.Internal.DocIdHandler</Class>
    <Data/>
    <Filter/>
  </Receiver>
  <Receiver>
    <Name>Document ID Generator</Name>
    <Synchronization>Synchronous</Synchronization>
    <Type>10004</Type>
    <SequenceNumber>1002</SequenceNumber>
    <Url/>
    <Assembly>Microsoft.Office.DocumentManagement, Version=16.0.0.0, Culture=neutral, PublicKeyToken=71e9bce111e9429c</Assembly>
    <Class>Microsoft.Office.DocumentManagement.Internal.DocIdHandler</Class>
    <Data/>
    <Filter/>
  </Receiver>
  <Receiver>
    <Name>Document ID Generator</Name>
    <Synchronization>Synchronous</Synchronization>
    <Type>10006</Type>
    <SequenceNumber>1003</SequenceNumber>
    <Url/>
    <Assembly>Microsoft.Office.DocumentManagement, Version=16.0.0.0, Culture=neutral, PublicKeyToken=71e9bce111e9429c</Assembly>
    <Class>Microsoft.Office.DocumentManagement.Internal.DocIdHandler</Class>
    <Data/>
    <Filter/>
  </Receiver>
</spe:Receiver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454789026152694A8ADBFB64A3DEF8D3" ma:contentTypeVersion="4" ma:contentTypeDescription="Create a new document." ma:contentTypeScope="" ma:versionID="3af6c6ad297b0e32a0e04aa7b03d11e4">
  <xsd:schema xmlns:xsd="http://www.w3.org/2001/XMLSchema" xmlns:xs="http://www.w3.org/2001/XMLSchema" xmlns:p="http://schemas.microsoft.com/office/2006/metadata/properties" xmlns:ns2="4115e1da-3f65-45a4-b4c2-0bec33cf021f" xmlns:ns3="5cba28c0-a866-4240-81c2-3ce50963478d" targetNamespace="http://schemas.microsoft.com/office/2006/metadata/properties" ma:root="true" ma:fieldsID="3968f54b15f0209a2e5295d050fc54a9" ns2:_="" ns3:_="">
    <xsd:import namespace="4115e1da-3f65-45a4-b4c2-0bec33cf021f"/>
    <xsd:import namespace="5cba28c0-a866-4240-81c2-3ce50963478d"/>
    <xsd:element name="properties">
      <xsd:complexType>
        <xsd:sequence>
          <xsd:element name="documentManagement">
            <xsd:complexType>
              <xsd:all>
                <xsd:element ref="ns2:_dlc_DocId" minOccurs="0"/>
                <xsd:element ref="ns2:_dlc_DocIdUrl" minOccurs="0"/>
                <xsd:element ref="ns2:_dlc_DocIdPersistId" minOccurs="0"/>
                <xsd:element ref="ns3:MediaServiceMetadata" minOccurs="0"/>
                <xsd:element ref="ns3:MediaServiceFastMetadata" minOccurs="0"/>
                <xsd:element ref="ns3:MediaServiceSearchProperties" minOccurs="0"/>
                <xsd:element ref="ns3:MediaServiceObjectDetectorVersion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115e1da-3f65-45a4-b4c2-0bec33cf021f" elementFormDefault="qualified">
    <xsd:import namespace="http://schemas.microsoft.com/office/2006/documentManagement/types"/>
    <xsd:import namespace="http://schemas.microsoft.com/office/infopath/2007/PartnerControls"/>
    <xsd:element name="_dlc_DocId" ma:index="8" nillable="true" ma:displayName="Document ID Value" ma:description="The value of the document ID assigned to this item." ma:indexed="true" ma:internalName="_dlc_DocId" ma:readOnly="true">
      <xsd:simpleType>
        <xsd:restriction base="dms:Text"/>
      </xsd:simpleType>
    </xsd:element>
    <xsd:element name="_dlc_DocIdUrl" ma:index="9" nillable="true" ma:displayName="Document ID" ma:description="Permanent link to this document." ma:hidden="true" ma:internalName="_dlc_DocIdUrl" ma:readOnly="tru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_dlc_DocIdPersistId" ma:index="10" nillable="true" ma:displayName="Persist ID" ma:description="Keep ID on add." ma:hidden="true" ma:internalName="_dlc_DocIdPersistId" ma:readOnly="true">
      <xsd:simpleType>
        <xsd:restriction base="dms:Boolean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cba28c0-a866-4240-81c2-3ce50963478d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11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2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3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4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dlc_DocId xmlns="4115e1da-3f65-45a4-b4c2-0bec33cf021f">3NPU4AMNSMUR-960428013-26</_dlc_DocId>
    <_dlc_DocIdUrl xmlns="4115e1da-3f65-45a4-b4c2-0bec33cf021f">
      <Url>https://kth.sharepoint.com/sites/kth_assets/_layouts/15/DocIdRedir.aspx?ID=3NPU4AMNSMUR-960428013-26</Url>
      <Description>3NPU4AMNSMUR-960428013-26</Description>
    </_dlc_DocIdUrl>
  </documentManagement>
</p:properties>
</file>

<file path=customXml/item4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F4B0C768-CFA7-4176-850A-22F4B13BA479}">
  <ds:schemaRefs>
    <ds:schemaRef ds:uri="http://schemas.microsoft.com/sharepoint/events"/>
  </ds:schemaRefs>
</ds:datastoreItem>
</file>

<file path=customXml/itemProps2.xml><?xml version="1.0" encoding="utf-8"?>
<ds:datastoreItem xmlns:ds="http://schemas.openxmlformats.org/officeDocument/2006/customXml" ds:itemID="{B783458C-019C-4AF0-A24B-F9802396A7C2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4115e1da-3f65-45a4-b4c2-0bec33cf021f"/>
    <ds:schemaRef ds:uri="5cba28c0-a866-4240-81c2-3ce50963478d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7900A54A-E32A-4A07-A193-E8AE92B10479}">
  <ds:schemaRefs>
    <ds:schemaRef ds:uri="http://schemas.microsoft.com/office/2006/metadata/properties"/>
    <ds:schemaRef ds:uri="http://schemas.microsoft.com/office/infopath/2007/PartnerControls"/>
    <ds:schemaRef ds:uri="4115e1da-3f65-45a4-b4c2-0bec33cf021f"/>
  </ds:schemaRefs>
</ds:datastoreItem>
</file>

<file path=customXml/itemProps4.xml><?xml version="1.0" encoding="utf-8"?>
<ds:datastoreItem xmlns:ds="http://schemas.openxmlformats.org/officeDocument/2006/customXml" ds:itemID="{AE4A7C1A-8C6A-4724-9851-61214B1837BC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Office-tema</Template>
  <TotalTime>0</TotalTime>
  <Words>0</Words>
  <Application>Microsoft Macintosh PowerPoint</Application>
  <PresentationFormat>Widescreen</PresentationFormat>
  <Paragraphs>0</Paragraphs>
  <Slides>3</Slides>
  <Notes>0</Notes>
  <HiddenSlides>1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7" baseType="lpstr">
      <vt:lpstr>Figtree</vt:lpstr>
      <vt:lpstr>Arial</vt:lpstr>
      <vt:lpstr>Calibri</vt:lpstr>
      <vt:lpstr>Office-tema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Michail Magkos</dc:creator>
  <cp:lastModifiedBy>Michail Magkos</cp:lastModifiedBy>
  <cp:revision>1</cp:revision>
  <dcterms:created xsi:type="dcterms:W3CDTF">2026-10-06T10:54:02Z</dcterms:created>
  <dcterms:modified xsi:type="dcterms:W3CDTF">2026-10-06T10:54:10Z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0x010100454789026152694A8ADBFB64A3DEF8D3</vt:lpwstr>
  </property>
  <property fmtid="{D5CDD505-2E9C-101B-9397-08002B2CF9AE}" pid="3" name="_dlc_DocIdItemGuid">
    <vt:lpwstr>727452b2-8c07-49fa-9c22-9c1873a3a1f2</vt:lpwstr>
  </property>
</Properties>
</file>