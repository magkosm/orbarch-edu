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5"/>
  </p:sldMasterIdLst>
  <p:notesMasterIdLst>
    <p:notesMasterId r:id="rId9"/>
  </p:notesMasterIdLst>
  <p:sldIdLst>
    <p:sldId id="256" r:id="rId8"/>
    <p:sldId id="257" r:id="rId7"/>
    <p:sldId id="258" r:id="rId6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</p:sldIdLst>
  <p:sldSz cx="12192000" cy="6858000"/>
  <p:notesSz cx="6858000" cy="9144000"/>
  <p:embeddedFontLst>
    <p:embeddedFont>
      <p:font typeface="Figtree"/>
      <p:regular r:id="rId10"/>
      <p:bold r:id="rId11"/>
      <p:italic r:id="rId12"/>
      <p:boldItalic r:id="rId13"/>
    </p:embeddedFont>
  </p:embeddedFont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6327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Poäng</c:v>
                </c:pt>
              </c:strCache>
            </c:strRef>
          </c:tx>
          <c:spPr>
            <a:ln w="31750">
              <a:solidFill>
                <a:srgbClr val="004791"/>
              </a:solidFill>
            </a:ln>
          </c:spPr>
          <c:cat>
            <c:strRef>
              <c:f>Sheet1!$A$2:$A$11</c:f>
              <c:strCache>
                <c:ptCount val="10"/>
                <c:pt idx="0">
                  <c:v>Runda 1</c:v>
                </c:pt>
                <c:pt idx="1">
                  <c:v>Runda 2</c:v>
                </c:pt>
                <c:pt idx="2">
                  <c:v>Runda 3</c:v>
                </c:pt>
                <c:pt idx="3">
                  <c:v>Runda 4</c:v>
                </c:pt>
                <c:pt idx="4">
                  <c:v>Runda 5</c:v>
                </c:pt>
                <c:pt idx="5">
                  <c:v>Runda 6</c:v>
                </c:pt>
                <c:pt idx="6">
                  <c:v>Runda 7</c:v>
                </c:pt>
                <c:pt idx="7">
                  <c:v>Runda 8</c:v>
                </c:pt>
                <c:pt idx="8">
                  <c:v>Runda 9</c:v>
                </c:pt>
                <c:pt idx="9">
                  <c:v>Runda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61</c:v>
                </c:pt>
                <c:pt idx="2">
                  <c:v>68</c:v>
                </c:pt>
                <c:pt idx="3">
                  <c:v>73</c:v>
                </c:pt>
                <c:pt idx="4">
                  <c:v>76</c:v>
                </c:pt>
                <c:pt idx="5">
                  <c:v>75</c:v>
                </c:pt>
                <c:pt idx="6">
                  <c:v>78</c:v>
                </c:pt>
                <c:pt idx="7">
                  <c:v>76</c:v>
                </c:pt>
                <c:pt idx="8">
                  <c:v>77</c:v>
                </c:pt>
                <c:pt idx="9">
                  <c:v>76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0B8C4"/>
            </a:solidFill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40.0"/>
        </c:scaling>
        <c:delete val="0"/>
        <c:axPos val="l"/>
        <c:majorGridlines>
          <c:spPr>
            <a:ln>
              <a:solidFill>
                <a:srgbClr val="D9DEE5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/>
                  <a:t>Prestation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55F6B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ACA97-DCC5-D741-8303-D68B06D997A0}" type="datetimeFigureOut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02129-24FE-4746-9897-C7E55345F5D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6170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Presentera föreläsaren. Idag: hur stationens design formar besättningens sinne.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ett kort besök; besättningen lever med designen varje timme. Första stationsbesättningen (Saljut 1, 1971): 24 dagar; ISS-besättningar: ~6 månader.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Rörig, maskincentrerad utveckling — utrustningen först, människan anpassar sig.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Mönstret upprepas decennium efter decennium.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Fuglesang var med och byggde stationen; Wandt körde Orbital Architecture-experimentet ombord under Muninn-uppdraget.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Nästan det bästa vi har nu — rörigt, bullrigt, dåligt ljus, trångt.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Öppet ord → whiteboard: rymden, sedan skola/hem, sedan vad som hjälper dig att slappna av. Tavlan står kvar hela lektionen.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 eleverna till att namnge länkens tre delar innan du visar bilden.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Knyt an till listan på whiteboarden.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Inspirerande — men kanske århundraden bort (föreläsarens egen uppskattning).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 tar de stegen 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Ställ frågan till klassen först. Tre test, tre kognitiva funktioner.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Släpp QR-koden när ni är redo. Visa ENDAST denna QR.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Bara på projektorn tills provkörningen. Läs varje instruktionsruta högt med egna 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Gå runt i rummet. Elever som fastnar har oftast glömt AUTO/MANUELL-regeln eller saknar ljud.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MATB öppnas i en ny flik; gå tillbaka till den här fliken för att skriva in poängen. Räkna med blandade resultat — det är diskussionen.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Rita på whiteboarden; riktiga studier upprepar tills det är stabilt.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tydligt: en pedagogisk modell, inte uppmätta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Upprepa regeln om korridor till entrén. Visa en elevs högpoängslayout på projektorn.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Stryk det här blocket först om tiden är knapp.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Samla in lapparna till en klassrumsutställning eller lärargenomgång.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Landa dagens stora idéer; tacka dem som framtidens rymdarkitekter.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hubbens QR så att eleverna kan utforska hemma.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4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>
            <a:extLst>
              <a:ext uri="{FF2B5EF4-FFF2-40B4-BE49-F238E27FC236}">
                <a16:creationId xmlns:a16="http://schemas.microsoft.com/office/drawing/2014/main" id="{6D38D80F-8198-3D50-0CAB-FB287588B37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3936" b="32409"/>
          <a:stretch/>
        </p:blipFill>
        <p:spPr>
          <a:xfrm>
            <a:off x="-1" y="1"/>
            <a:ext cx="3177767" cy="4635374"/>
          </a:xfrm>
          <a:prstGeom prst="rect">
            <a:avLst/>
          </a:prstGeom>
        </p:spPr>
      </p:pic>
      <p:pic>
        <p:nvPicPr>
          <p:cNvPr id="8" name="Bild 7">
            <a:extLst>
              <a:ext uri="{FF2B5EF4-FFF2-40B4-BE49-F238E27FC236}">
                <a16:creationId xmlns:a16="http://schemas.microsoft.com/office/drawing/2014/main" id="{70792B10-D270-C2C6-5B88-13B9E3D50A0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2740" r="75198" b="-1"/>
          <a:stretch/>
        </p:blipFill>
        <p:spPr>
          <a:xfrm flipH="1">
            <a:off x="9166550" y="4988459"/>
            <a:ext cx="3023858" cy="1869540"/>
          </a:xfrm>
          <a:prstGeom prst="rect">
            <a:avLst/>
          </a:prstGeom>
        </p:spPr>
      </p:pic>
      <p:pic>
        <p:nvPicPr>
          <p:cNvPr id="9" name="Logotype">
            <a:extLst>
              <a:ext uri="{FF2B5EF4-FFF2-40B4-BE49-F238E27FC236}">
                <a16:creationId xmlns:a16="http://schemas.microsoft.com/office/drawing/2014/main" id="{5CB0B686-93A0-FA00-859F-3930A6FB741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3011" y="998292"/>
            <a:ext cx="1764387" cy="1974432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191A984F-EC06-FCDC-F274-D5275A60CD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5853" y="3571875"/>
            <a:ext cx="8798701" cy="1654175"/>
          </a:xfrm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Presentation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A3458D8-0B11-6CF5-7CF4-C5CA80850FB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32013" y="5776913"/>
            <a:ext cx="7926387" cy="4619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 err="1"/>
              <a:t>Subtitle</a:t>
            </a:r>
            <a:r>
              <a:rPr lang="sv-SE" dirty="0"/>
              <a:t> </a:t>
            </a:r>
            <a:r>
              <a:rPr lang="sv-SE" dirty="0" err="1"/>
              <a:t>here</a:t>
            </a:r>
            <a:endParaRPr lang="sv-SE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3D49F56-9255-DA2A-05B7-92B1B041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69C0258-E083-684F-B81E-2491FB4EFBD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B69D7AE-6EEB-EE3E-0310-ED9C3556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79EDCB6-5D2D-0312-1EF1-C34529D8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54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/chapter, navy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 7">
            <a:extLst>
              <a:ext uri="{FF2B5EF4-FFF2-40B4-BE49-F238E27FC236}">
                <a16:creationId xmlns:a16="http://schemas.microsoft.com/office/drawing/2014/main" id="{E5884329-1698-379E-55B0-296699708B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08FF4B0F-EDDD-A22D-72B1-38F4939D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4" y="2218797"/>
            <a:ext cx="721836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2F2B0C3-2BAB-6502-DD24-88356B839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4" y="5226050"/>
            <a:ext cx="7218363" cy="86360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851E848-251E-E2DA-7C4F-1D0091421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94E9-0885-714C-A367-BDC2DC59BB91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B17E8BE-A4A4-85C9-B892-43238732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29BC8E8-F5C8-822E-801D-9D7D1870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E3DA9A33-1CAA-3164-6E44-47421CD08E0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29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5C9F0B7-F98C-CB91-2115-2967E7B15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F0965-93C0-9548-8879-5851BCBC049F}" type="datetime1">
              <a:rPr lang="sv-SE" smtClean="0"/>
              <a:t>2026-10-06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4959C9-2F76-B9B0-59E8-58FE6500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2AE670-4D80-39DE-5AAA-236D68C5E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1795850"/>
            <a:ext cx="5314950" cy="45319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40C6723-9D57-3BE7-0314-142789CF9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5388" y="1795851"/>
            <a:ext cx="5314950" cy="45319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E2533F65-F144-E57C-127B-9A8D7ABE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A58AE-A0B6-FF4E-B30B-64917FEAC316}" type="datetime1">
              <a:rPr lang="sv-SE" smtClean="0"/>
              <a:t>2026-10-06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F6C0DB15-F374-5A00-4880-4AA76C67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2539EF3-2889-FC04-31FC-8AF48EAF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7051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9B9D78B8-14EA-7C8B-0F6E-5FC0A61A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6" name="Platshållare för innehåll 2">
            <a:extLst>
              <a:ext uri="{FF2B5EF4-FFF2-40B4-BE49-F238E27FC236}">
                <a16:creationId xmlns:a16="http://schemas.microsoft.com/office/drawing/2014/main" id="{C8E71948-DDFC-93D6-07D4-FA5E9923A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2">
            <a:extLst>
              <a:ext uri="{FF2B5EF4-FFF2-40B4-BE49-F238E27FC236}">
                <a16:creationId xmlns:a16="http://schemas.microsoft.com/office/drawing/2014/main" id="{A51C4AA9-7CC2-70C9-89B3-A18AC9ECAA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C714-122B-4048-9D2D-1F5A3BEA504A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22685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, KTH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D397E574-764C-83EF-BF38-E62B63590B0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83C6AD54-EED3-3960-39F1-6C44C49ED29A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681" y="164553"/>
            <a:ext cx="648592" cy="725806"/>
          </a:xfrm>
          <a:prstGeom prst="rect">
            <a:avLst/>
          </a:prstGeom>
        </p:spPr>
      </p:pic>
      <p:sp>
        <p:nvSpPr>
          <p:cNvPr id="14" name="Rubrik 1">
            <a:extLst>
              <a:ext uri="{FF2B5EF4-FFF2-40B4-BE49-F238E27FC236}">
                <a16:creationId xmlns:a16="http://schemas.microsoft.com/office/drawing/2014/main" id="{3B85E6DD-F8DF-4BBD-E46A-52EC6D70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6" y="1095632"/>
            <a:ext cx="4929982" cy="97761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13" name="Platshållare för innehåll 1">
            <a:extLst>
              <a:ext uri="{FF2B5EF4-FFF2-40B4-BE49-F238E27FC236}">
                <a16:creationId xmlns:a16="http://schemas.microsoft.com/office/drawing/2014/main" id="{DD1CE06C-E8A4-9360-B155-3B7D11D41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075" y="2281473"/>
            <a:ext cx="4929982" cy="404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Rubrik 2">
            <a:extLst>
              <a:ext uri="{FF2B5EF4-FFF2-40B4-BE49-F238E27FC236}">
                <a16:creationId xmlns:a16="http://schemas.microsoft.com/office/drawing/2014/main" id="{CC32D746-BC2A-D4E0-4FDE-8026A33397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0356" y="1095632"/>
            <a:ext cx="4928392" cy="977612"/>
          </a:xfrm>
        </p:spPr>
        <p:txBody>
          <a:bodyPr tIns="108000" anchor="t">
            <a:noAutofit/>
          </a:bodyPr>
          <a:lstStyle>
            <a:lvl1pPr marL="0" indent="0">
              <a:lnSpc>
                <a:spcPct val="90000"/>
              </a:lnSpc>
              <a:buNone/>
              <a:defRPr sz="36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Platshållare för innehåll 2">
            <a:extLst>
              <a:ext uri="{FF2B5EF4-FFF2-40B4-BE49-F238E27FC236}">
                <a16:creationId xmlns:a16="http://schemas.microsoft.com/office/drawing/2014/main" id="{0B6CAC2E-851A-9B60-91F5-AEEA25AB753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61947" y="2281473"/>
            <a:ext cx="4928391" cy="4046300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1A8EB3F3-676A-79F6-8987-44C3A32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E109-5503-A446-83DE-4F0349794E27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0C791DF-47D1-0444-64B4-28EE4F11B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9FF0802-1CA1-C7EA-0195-64C787BC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15672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4" y="1919288"/>
            <a:ext cx="10990263" cy="4408487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0A6BD-1EFB-BD42-9DC0-F0A6BEB4C27D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566691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2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BC674729-23CB-CE55-418D-9B4DA58EC1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73800" y="1919288"/>
            <a:ext cx="5314950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3">
            <a:extLst>
              <a:ext uri="{FF2B5EF4-FFF2-40B4-BE49-F238E27FC236}">
                <a16:creationId xmlns:a16="http://schemas.microsoft.com/office/drawing/2014/main" id="{4E2E81CD-B9BA-4D4B-D687-9453DEF106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75388" y="5226050"/>
            <a:ext cx="5314950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9746E-62D8-944D-99B0-D98695592DCF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97270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3 image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EAA9509-04AF-A771-D4EB-D92258F2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6" name="Platshållare för bild 2">
            <a:extLst>
              <a:ext uri="{FF2B5EF4-FFF2-40B4-BE49-F238E27FC236}">
                <a16:creationId xmlns:a16="http://schemas.microsoft.com/office/drawing/2014/main" id="{419479CD-E7B7-E759-7ABC-5CD5CC7C74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075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E8F9620A-7B37-2787-0C61-0CB4A6519E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0075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7" name="Platshållare för bild 3">
            <a:extLst>
              <a:ext uri="{FF2B5EF4-FFF2-40B4-BE49-F238E27FC236}">
                <a16:creationId xmlns:a16="http://schemas.microsoft.com/office/drawing/2014/main" id="{10E5EDDF-D49C-48DD-C908-7043750473E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83881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1" name="Platshållare för text 3">
            <a:extLst>
              <a:ext uri="{FF2B5EF4-FFF2-40B4-BE49-F238E27FC236}">
                <a16:creationId xmlns:a16="http://schemas.microsoft.com/office/drawing/2014/main" id="{81E59C72-4325-9697-1B8F-6876044359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83881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8" name="Platshållare för bild 4">
            <a:extLst>
              <a:ext uri="{FF2B5EF4-FFF2-40B4-BE49-F238E27FC236}">
                <a16:creationId xmlns:a16="http://schemas.microsoft.com/office/drawing/2014/main" id="{D890193F-9CCD-2775-F25C-FAC1CA41A7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67687" y="1919288"/>
            <a:ext cx="3424238" cy="3092979"/>
          </a:xfrm>
        </p:spPr>
        <p:txBody>
          <a:bodyPr bIns="1044000" anchor="ctr"/>
          <a:lstStyle>
            <a:lvl1pPr marL="0" indent="0" algn="ctr">
              <a:buNone/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on the </a:t>
            </a:r>
            <a:r>
              <a:rPr lang="sv-SE" dirty="0" err="1"/>
              <a:t>icon</a:t>
            </a:r>
            <a:r>
              <a:rPr lang="sv-SE" dirty="0"/>
              <a:t> or </a:t>
            </a:r>
            <a:br>
              <a:rPr lang="sv-SE" dirty="0"/>
            </a:br>
            <a:r>
              <a:rPr lang="sv-SE" dirty="0"/>
              <a:t>drag and </a:t>
            </a:r>
            <a:r>
              <a:rPr lang="sv-SE" dirty="0" err="1"/>
              <a:t>drop</a:t>
            </a:r>
            <a:r>
              <a:rPr lang="sv-SE" dirty="0"/>
              <a:t> to </a:t>
            </a:r>
            <a:r>
              <a:rPr lang="sv-SE" dirty="0" err="1"/>
              <a:t>insert</a:t>
            </a:r>
            <a:r>
              <a:rPr lang="sv-SE" dirty="0"/>
              <a:t> an image</a:t>
            </a:r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04B71E10-09CE-4F1F-5969-3DD959F0102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67687" y="5226050"/>
            <a:ext cx="3424238" cy="1101725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9E441D1D-F64B-D03C-6A3E-4332F53C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E03F6-2D99-9C4F-8DF5-D169CFDD1A0C}" type="datetime1">
              <a:rPr lang="sv-SE" smtClean="0"/>
              <a:t>2026-10-06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6B063F1-EBFF-649E-5CFE-AC7479610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DA80FCC-5A03-2568-468F-2FC65324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9571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B2E332-9225-25D1-EB2B-62418C5D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2EF1EFA3-3FDF-1336-ED61-2DEDAA6F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2B6B-9A86-944B-B689-8453757791D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80BEAC8-B518-E8B6-324C-4CC99EAF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936D8FE-4DB7-B3B6-8840-02A9309F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12770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B35DBFB-5CDF-E32D-0562-6D9221380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DDE6C-6786-8C48-9317-AF0776715ACF}" type="datetime1">
              <a:rPr lang="sv-SE" smtClean="0"/>
              <a:t>2026-10-06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9757DD51-31A9-0B97-878B-DC725BEF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Presentation footer</a:t>
            </a:r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9810C51-F518-224E-FB91-8421FD7D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34940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40" Type="http://schemas.openxmlformats.org/officeDocument/2006/relationships/slideLayout" Target="../slideLayouts/slideLayout40.xml"/><Relationship Id="rId48" Type="http://schemas.openxmlformats.org/officeDocument/2006/relationships/theme" Target="../theme/theme1.xml"/><Relationship Id="rId4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095632"/>
            <a:ext cx="10990263" cy="56841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72344"/>
            <a:ext cx="10990263" cy="44538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0075" y="6473327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fld id="{888E4D63-BE2C-4D4B-BBD2-256262659A9F}" type="datetime1">
              <a:rPr lang="sv-SE" smtClean="0"/>
              <a:t>2026-10-06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805" y="6470364"/>
            <a:ext cx="4114800" cy="97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sv-SE"/>
              <a:t>Presentation footer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8725" y="6473328"/>
            <a:ext cx="2743200" cy="9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  <p:pic>
        <p:nvPicPr>
          <p:cNvPr id="11" name="Bild 10">
            <a:extLst>
              <a:ext uri="{FF2B5EF4-FFF2-40B4-BE49-F238E27FC236}">
                <a16:creationId xmlns:a16="http://schemas.microsoft.com/office/drawing/2014/main" id="{57E3D58E-4C99-E6D1-B925-E182668FA2E3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93566" y="164552"/>
            <a:ext cx="714243" cy="79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10"/>
    <p:sldLayoutId id="2147483650" r:id="rId12"/>
    <p:sldLayoutId id="2147483652" r:id="rId17"/>
    <p:sldLayoutId id="2147483656" r:id="rId19"/>
    <p:sldLayoutId id="2147483694" r:id="rId22"/>
    <p:sldLayoutId id="2147483676" r:id="rId28"/>
    <p:sldLayoutId id="2147483678" r:id="rId30"/>
    <p:sldLayoutId id="2147483668" r:id="rId32"/>
    <p:sldLayoutId id="2147483666" r:id="rId35"/>
    <p:sldLayoutId id="2147483655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78" userDrawn="1">
          <p15:clr>
            <a:srgbClr val="F26B43"/>
          </p15:clr>
        </p15:guide>
        <p15:guide id="4" pos="1343" userDrawn="1">
          <p15:clr>
            <a:srgbClr val="F26B43"/>
          </p15:clr>
        </p15:guide>
        <p15:guide id="5" pos="1570" userDrawn="1">
          <p15:clr>
            <a:srgbClr val="F26B43"/>
          </p15:clr>
        </p15:guide>
        <p15:guide id="6" pos="2535" userDrawn="1">
          <p15:clr>
            <a:srgbClr val="F26B43"/>
          </p15:clr>
        </p15:guide>
        <p15:guide id="7" pos="2761" userDrawn="1">
          <p15:clr>
            <a:srgbClr val="F26B43"/>
          </p15:clr>
        </p15:guide>
        <p15:guide id="8" pos="3726" userDrawn="1">
          <p15:clr>
            <a:srgbClr val="F26B43"/>
          </p15:clr>
        </p15:guide>
        <p15:guide id="9" pos="3953" userDrawn="1">
          <p15:clr>
            <a:srgbClr val="F26B43"/>
          </p15:clr>
        </p15:guide>
        <p15:guide id="10" pos="4918" userDrawn="1">
          <p15:clr>
            <a:srgbClr val="F26B43"/>
          </p15:clr>
        </p15:guide>
        <p15:guide id="11" pos="5144" userDrawn="1">
          <p15:clr>
            <a:srgbClr val="F26B43"/>
          </p15:clr>
        </p15:guide>
        <p15:guide id="12" pos="6109" userDrawn="1">
          <p15:clr>
            <a:srgbClr val="F26B43"/>
          </p15:clr>
        </p15:guide>
        <p15:guide id="13" pos="6336" userDrawn="1">
          <p15:clr>
            <a:srgbClr val="F26B43"/>
          </p15:clr>
        </p15:guide>
        <p15:guide id="14" pos="730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6" orient="horz" pos="4320" userDrawn="1">
          <p15:clr>
            <a:srgbClr val="F26B43"/>
          </p15:clr>
        </p15:guide>
        <p15:guide id="17" orient="horz" pos="514" userDrawn="1">
          <p15:clr>
            <a:srgbClr val="F26B43"/>
          </p15:clr>
        </p15:guide>
        <p15:guide id="18" orient="horz" pos="861" userDrawn="1">
          <p15:clr>
            <a:srgbClr val="F26B43"/>
          </p15:clr>
        </p15:guide>
        <p15:guide id="19" orient="horz" pos="1209" userDrawn="1">
          <p15:clr>
            <a:srgbClr val="F26B43"/>
          </p15:clr>
        </p15:guide>
        <p15:guide id="20" orient="horz" pos="1570" userDrawn="1">
          <p15:clr>
            <a:srgbClr val="F26B43"/>
          </p15:clr>
        </p15:guide>
        <p15:guide id="21" orient="horz" pos="1903" userDrawn="1">
          <p15:clr>
            <a:srgbClr val="F26B43"/>
          </p15:clr>
        </p15:guide>
        <p15:guide id="22" orient="horz" pos="2250" userDrawn="1">
          <p15:clr>
            <a:srgbClr val="F26B43"/>
          </p15:clr>
        </p15:guide>
        <p15:guide id="23" orient="horz" pos="2597" userDrawn="1">
          <p15:clr>
            <a:srgbClr val="F26B43"/>
          </p15:clr>
        </p15:guide>
        <p15:guide id="24" orient="horz" pos="2945" userDrawn="1">
          <p15:clr>
            <a:srgbClr val="F26B43"/>
          </p15:clr>
        </p15:guide>
        <p15:guide id="25" orient="horz" pos="3292" userDrawn="1">
          <p15:clr>
            <a:srgbClr val="F26B43"/>
          </p15:clr>
        </p15:guide>
        <p15:guide id="26" orient="horz" pos="3639" userDrawn="1">
          <p15:clr>
            <a:srgbClr val="F26B43"/>
          </p15:clr>
        </p15:guide>
        <p15:guide id="27" orient="horz" pos="398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4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5.png"/><Relationship Id="rId3" Type="http://schemas.openxmlformats.org/officeDocument/2006/relationships/image" Target="../media/image2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</a:rPr>
              <a:t>Arkitektens sinne i omloppsbana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</a:rPr>
              <a:t>Hur rymdstationens design formar besättningens sinne — och hur vi mäter 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DEF0FF"/>
                </a:solidFill>
              </a:rPr>
              <a:t>En klassrumsworkshop · Orbital Architecture · KTH Kungliga Tekniska högskolan &amp; ESERO Sverige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760720"/>
            <a:ext cx="1591056" cy="640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06040" y="5687568"/>
            <a:ext cx="91440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724144"/>
            <a:ext cx="636522" cy="713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Vad är en rymdstation?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/>
              <a:t>En farkost som stannar i omloppsbana så att besättningar kan </a:t>
            </a:r>
            <a:r>
              <a:rPr b="1" sz="1800"/>
              <a:t>bo och arbeta</a:t>
            </a:r>
            <a:r>
              <a:rPr sz="1800"/>
              <a:t> där i veckor till månader</a:t>
            </a:r>
          </a:p>
          <a:p>
            <a:pPr>
              <a:spcAft>
                <a:spcPts val="1000"/>
              </a:spcAft>
            </a:pPr>
            <a:r>
              <a:rPr sz="1800"/>
              <a:t>Ett hem </a:t>
            </a:r>
            <a:r>
              <a:rPr b="1" sz="1800"/>
              <a:t>och</a:t>
            </a:r>
            <a:r>
              <a:rPr sz="1800"/>
              <a:t> en arbetsplats — besättningen lever med designen varje timme på dygnet</a:t>
            </a:r>
          </a:p>
          <a:p>
            <a:pPr>
              <a:spcAft>
                <a:spcPts val="1000"/>
              </a:spcAft>
            </a:pPr>
            <a:r>
              <a:rPr sz="1800"/>
              <a:t>Första stationsbesättningen (Saljut 1, 1971): 24 dagar · ISS-besättningar idag: cirka 6 månader</a:t>
            </a:r>
          </a:p>
        </p:txBody>
      </p:sp>
      <p:pic>
        <p:nvPicPr>
          <p:cNvPr id="4" name="Picture Placeholder 3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78" r="20378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</a:rPr>
              <a:t>© NASA / SpaceX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Rymdstationernas korta historia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59" y="3840480"/>
            <a:ext cx="10607041" cy="0"/>
          </a:xfrm>
          <a:prstGeom prst="line">
            <a:avLst/>
          </a:prstGeom>
          <a:ln w="38100">
            <a:solidFill>
              <a:srgbClr val="0047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9611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Saljut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Sovjetunionen</a:t>
            </a:r>
          </a:p>
        </p:txBody>
      </p:sp>
      <p:sp>
        <p:nvSpPr>
          <p:cNvPr id="8" name="Oval 7"/>
          <p:cNvSpPr/>
          <p:nvPr/>
        </p:nvSpPr>
        <p:spPr>
          <a:xfrm>
            <a:off x="338785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3746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Skylab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746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46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USA</a:t>
            </a:r>
          </a:p>
        </p:txBody>
      </p:sp>
      <p:sp>
        <p:nvSpPr>
          <p:cNvPr id="12" name="Oval 11"/>
          <p:cNvSpPr/>
          <p:nvPr/>
        </p:nvSpPr>
        <p:spPr>
          <a:xfrm>
            <a:off x="587959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Mir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Sovjetunionen / Ryssland</a:t>
            </a:r>
          </a:p>
        </p:txBody>
      </p:sp>
      <p:sp>
        <p:nvSpPr>
          <p:cNvPr id="16" name="Oval 15"/>
          <p:cNvSpPr/>
          <p:nvPr/>
        </p:nvSpPr>
        <p:spPr>
          <a:xfrm>
            <a:off x="8371331" y="3639312"/>
            <a:ext cx="402336" cy="402336"/>
          </a:xfrm>
          <a:prstGeom prst="ellipse">
            <a:avLst/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0940" y="425196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0940" y="470916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1998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0940" y="507492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internationell</a:t>
            </a:r>
          </a:p>
        </p:txBody>
      </p:sp>
      <p:sp>
        <p:nvSpPr>
          <p:cNvPr id="20" name="Oval 19"/>
          <p:cNvSpPr/>
          <p:nvPr/>
        </p:nvSpPr>
        <p:spPr>
          <a:xfrm>
            <a:off x="10863072" y="3639312"/>
            <a:ext cx="402336" cy="402336"/>
          </a:xfrm>
          <a:prstGeom prst="ellipse">
            <a:avLst/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2103120"/>
            <a:ext cx="2103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b="1" sz="2000">
                <a:solidFill>
                  <a:srgbClr val="000061"/>
                </a:solidFill>
              </a:rPr>
              <a:t>Tiangong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560320"/>
            <a:ext cx="21031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004791"/>
                </a:solidFill>
              </a:rPr>
              <a:t>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926080"/>
            <a:ext cx="21031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Kina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</a:rPr>
              <a:t>Fråga klassen var varje station byggdes innan du visar etiketterna.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Maskincentrerad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800"/>
              <a:t>Kablar överallt</a:t>
            </a:r>
          </a:p>
          <a:p>
            <a:pPr>
              <a:spcAft>
                <a:spcPts val="1000"/>
              </a:spcAft>
            </a:pPr>
            <a:r>
              <a:rPr sz="1800"/>
              <a:t>Trångt och bullrigt</a:t>
            </a:r>
          </a:p>
          <a:p>
            <a:pPr>
              <a:spcAft>
                <a:spcPts val="1000"/>
              </a:spcAft>
            </a:pPr>
            <a:r>
              <a:rPr sz="1800"/>
              <a:t>Komplext att hantera</a:t>
            </a:r>
          </a:p>
          <a:p>
            <a:pPr>
              <a:spcAft>
                <a:spcPts val="1000"/>
              </a:spcAft>
            </a:pPr>
            <a:r>
              <a:rPr sz="1800"/>
              <a:t>Funktionella interiörer — utrustningen först, människan anpassar sig</a:t>
            </a:r>
          </a:p>
        </p:txBody>
      </p:sp>
      <p:pic>
        <p:nvPicPr>
          <p:cNvPr id="4" name="Picture Placeholder 3" descr="image45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364" r="20364"/>
          <a:stretch>
            <a:fillRect/>
          </a:stretch>
        </p:blipFill>
        <p:spPr/>
      </p:pic>
      <p:sp>
        <p:nvSpPr>
          <p:cNvPr id="5" name="TextBox 4"/>
          <p:cNvSpPr txBox="1"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FFFF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Sverige &amp; ISS</a:t>
            </a:r>
          </a:p>
        </p:txBody>
      </p:sp>
      <p:pic>
        <p:nvPicPr>
          <p:cNvPr id="3" name="Picture Placeholder 2" descr="image44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13106" r="13106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Christer Fuglesang</a:t>
            </a:r>
            <a:r>
              <a:rPr sz="1300"/>
              <a:t> — Sveriges första astronaut; byggde ISS på rymdfärjeuppdragen STS-116 (2006) och STS-128 (2009)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l="13088" r="13088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ESA-astronauten Marcus Wandt</a:t>
            </a:r>
            <a:r>
              <a:rPr sz="1300"/>
              <a:t> — projektastronaut som körde dessa tester i omloppsbana under Muninn-uppdraget (2024)</a:t>
            </a:r>
          </a:p>
        </p:txBody>
      </p:sp>
      <p:pic>
        <p:nvPicPr>
          <p:cNvPr id="7" name="Picture Placeholder 6" descr="image28.jpe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l="13089" r="13089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Mars-analoger</a:t>
            </a:r>
            <a:r>
              <a:rPr sz="1300"/>
              <a:t> — samma tester körs på MDRS i Utahöknen med ISAE-SUPAERO-besättningar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NASA / SpaceX · © ESA – M. Wandt · © ISAE-SUPAERO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Läget idag</a:t>
            </a:r>
          </a:p>
        </p:txBody>
      </p:sp>
      <p:pic>
        <p:nvPicPr>
          <p:cNvPr id="3" name="Picture Placeholder 2" descr="image32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9922" b="19922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ESA – M. Wandt · ISS-interiör fotograferad av Marcus Wandt i Destiny-labbet — kablar överallt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61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</a:rPr>
              <a:t>Vad gör rymden stressig?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>
                <a:solidFill>
                  <a:srgbClr val="DEF0FF"/>
                </a:solidFill>
              </a:rPr>
              <a:t>Rymden först · sedan skola och hem · sedan: vad hjälper dig att slappna av?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64465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DEF0FF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 kognitiva länken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619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000061"/>
                </a:solidFill>
              </a:rPr>
              <a:t>Miljö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000061"/>
                </a:solidFill>
              </a:rPr>
              <a:t>buller · ljus · röra · grönska · utrymme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67912" y="3337560"/>
            <a:ext cx="676656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61772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4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</a:rPr>
              <a:t>Stress &amp; återhämtning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</a:rPr>
              <a:t>hur kropp och sinne reagerar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62672" y="3337560"/>
            <a:ext cx="676655" cy="0"/>
          </a:xfrm>
          <a:prstGeom prst="line">
            <a:avLst/>
          </a:prstGeom>
          <a:ln w="381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0" y="2286000"/>
            <a:ext cx="2971800" cy="2103120"/>
          </a:xfrm>
          <a:prstGeom prst="roundRect">
            <a:avLst>
              <a:gd name="adj" fmla="val 12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1600">
                <a:solidFill>
                  <a:srgbClr val="FFFFFF"/>
                </a:solidFill>
              </a:rPr>
              <a:t>Kognition</a:t>
            </a:r>
          </a:p>
          <a:p>
            <a:pPr algn="ctr"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</a:rPr>
              <a:t>uppmärksamhet · minne · beslut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555F6B"/>
                </a:solidFill>
              </a:rPr>
              <a:t>Exempel från tavlan: en bullrig kabin höjer stressen och sänker uppmärksamheten; utsikt över jorden, växter och bra ljus hjälper dig att återhämta dig.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Bättre habitat kräver evidens, inte gissningar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/>
              <a:t>Åsikter går isär — mätningar avgör. Därför testar vi.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 besättningar bor i idag</a:t>
            </a:r>
          </a:p>
        </p:txBody>
      </p:sp>
      <p:pic>
        <p:nvPicPr>
          <p:cNvPr id="3" name="Picture Placeholder 2" descr="image46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6364" b="6364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Cupola</a:t>
            </a:r>
            <a:r>
              <a:rPr sz="1400"/>
              <a:t> — det enda fönstret med riktig utsikt över jorden</a:t>
            </a:r>
          </a:p>
        </p:txBody>
      </p:sp>
      <p:pic>
        <p:nvPicPr>
          <p:cNvPr id="5" name="Picture Placeholder 4" descr="image47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28177" b="28177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Besättningens sovhytter</a:t>
            </a:r>
            <a:r>
              <a:rPr sz="1400"/>
              <a:t> — ett privat utrymme stort som en telefonkiosk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ESA – M. Wandt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Framtidsvisionen</a:t>
            </a:r>
          </a:p>
        </p:txBody>
      </p:sp>
      <p:pic>
        <p:nvPicPr>
          <p:cNvPr id="3" name="Picture Placeholder 2" descr="image37.jp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23005" b="23005"/>
          <a:stretch>
            <a:fillRect/>
          </a:stretch>
        </p:blipFill>
        <p:spPr/>
      </p:pic>
      <p:sp>
        <p:nvSpPr>
          <p:cNvPr id="4" name="TextBox 3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NASA – Rick Guidice, NASA Ames Research Center · Roterande habitat med grönska och fönster — konceptkonst från 1970-talet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Små steg idag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D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Små kvantitativa experiment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mät en sak i taget: buller, ljus, röra…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15000" y="3657600"/>
            <a:ext cx="822960" cy="0"/>
          </a:xfrm>
          <a:prstGeom prst="line">
            <a:avLst/>
          </a:prstGeom>
          <a:ln w="50800">
            <a:solidFill>
              <a:srgbClr val="0000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675120" y="2103120"/>
            <a:ext cx="4754880" cy="3108960"/>
          </a:xfrm>
          <a:prstGeom prst="roundRect">
            <a:avLst>
              <a:gd name="adj" fmla="val 8000"/>
            </a:avLst>
          </a:prstGeom>
          <a:solidFill>
            <a:srgbClr val="000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FFFFFF"/>
                </a:solidFill>
              </a:rPr>
              <a:t>Kvalitativ förändring över tid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FFFFFF"/>
                </a:solidFill>
              </a:rPr>
              <a:t>bättre designade stationer, gladare och skarpare besättningar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</a:rPr>
              <a:t>Vi tar de stegen nu — och idag gör ni det också.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Hur vi testar kognition</a:t>
            </a:r>
          </a:p>
        </p:txBody>
      </p:sp>
      <p:pic>
        <p:nvPicPr>
          <p:cNvPr id="3" name="Picture Placeholder 2" descr="image48.jpe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6653" r="6653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Reaktionstid (PVT-typ)</a:t>
            </a:r>
            <a:r>
              <a:rPr sz="1300"/>
              <a:t> — vakenhet · alla, som uppvärmning</a:t>
            </a:r>
          </a:p>
        </p:txBody>
      </p:sp>
      <p:pic>
        <p:nvPicPr>
          <p:cNvPr id="5" name="Picture Placeholder 4" descr="image52.pn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7126" b="7126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N-Back</a:t>
            </a:r>
            <a:r>
              <a:rPr sz="1300"/>
              <a:t> — arbetsminne · 16–18 år</a:t>
            </a:r>
          </a:p>
        </p:txBody>
      </p:sp>
      <p:pic>
        <p:nvPicPr>
          <p:cNvPr id="7" name="Picture Placeholder 6" descr="matb-run.png"/>
          <p:cNvPicPr>
            <a:picLocks noGrp="1" noChangeAspect="1"/>
          </p:cNvPicPr>
          <p:nvPr>
            <p:ph type="pic" idx="15" sz="quarter"/>
          </p:nvPr>
        </p:nvPicPr>
        <p:blipFill>
          <a:blip r:embed="rId4"/>
          <a:srcRect l="15403" r="15403"/>
          <a:stretch>
            <a:fillRect/>
          </a:stretch>
        </p:blipFill>
        <p:spPr/>
      </p:pic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300"/>
              <a:t>MATB</a:t>
            </a:r>
            <a:r>
              <a:rPr sz="1300"/>
              <a:t> — exekutiv funktion · fokus 14–15 år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555F6B"/>
                </a:solidFill>
              </a:rPr>
              <a:t>”Hur vet din mattelärare om du är bra på matte?” → prov.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 forskningen körs</a:t>
            </a:r>
          </a:p>
        </p:txBody>
      </p:sp>
      <p:pic>
        <p:nvPicPr>
          <p:cNvPr id="3" name="Picture Placeholder 2" descr="image41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t="11185" b="11185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MDRS, Utah</a:t>
            </a:r>
            <a:r>
              <a:rPr sz="1400"/>
              <a:t> — Mars Desert Research Station med ISAE-SUPAERO-besättningar (MDRS 275, 293, 311, 330)</a:t>
            </a:r>
          </a:p>
        </p:txBody>
      </p:sp>
      <p:pic>
        <p:nvPicPr>
          <p:cNvPr id="5" name="Picture Placeholder 4" descr="image43.jpeg"/>
          <p:cNvPicPr>
            <a:picLocks noGrp="1" noChangeAspect="1"/>
          </p:cNvPicPr>
          <p:nvPr>
            <p:ph type="pic" idx="14" sz="quarter"/>
          </p:nvPr>
        </p:nvPicPr>
        <p:blipFill>
          <a:blip r:embed="rId3"/>
          <a:srcRect t="6364" b="6364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b="1" sz="1400"/>
              <a:t>ISS</a:t>
            </a:r>
            <a:r>
              <a:rPr sz="1400"/>
              <a:t> — Marcus Wandt, ESA:s Muninn-uppdrag,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635508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900">
                <a:solidFill>
                  <a:srgbClr val="555F6B"/>
                </a:solidFill>
              </a:rPr>
              <a:t>© ISAE-SUPAERO · © ESA – M. Wandt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Reaktionstid — en runda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Tryck på skärmen (eller MELLANSLAG) så snabbt du kan när den röda pricken visas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En runda · 8 prickar · ungefär en minut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Alla är olika — störfaktorer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000061"/>
                </a:solidFill>
              </a:rPr>
              <a:t>Du mot dig själv</a:t>
            </a:r>
            <a:r>
              <a:rPr sz="1800">
                <a:solidFill>
                  <a:srgbClr val="000061"/>
                </a:solidFill>
              </a:rPr>
              <a:t>: Förhållandelabbet jämför dig senare med dig själv, i % av din egen poäng</a:t>
            </a:r>
          </a:p>
        </p:txBody>
      </p:sp>
      <p:pic>
        <p:nvPicPr>
          <p:cNvPr id="4" name="Picture 3" descr="reaction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ction-default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/reaction-default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magkosm.github.io/orbarch-edu/reaction-default?lng=sv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Startskärm. Skriv ditt genomsnitt och din snabbaste tid på elevbladet.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MATB — fyra uppgifter samtidigt (lärardemo)</a:t>
            </a:r>
          </a:p>
        </p:txBody>
      </p:sp>
      <p:pic>
        <p:nvPicPr>
          <p:cNvPr id="3" name="Picture 2" descr="training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3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3712463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Systemövervakning</a:t>
            </a:r>
            <a:r>
              <a:rPr sz="1300">
                <a:solidFill>
                  <a:srgbClr val="000061"/>
                </a:solidFill>
              </a:rPr>
              <a:t> — tryck på lampan eller mätaren som går fel</a:t>
            </a:r>
          </a:p>
        </p:txBody>
      </p:sp>
      <p:pic>
        <p:nvPicPr>
          <p:cNvPr id="5" name="Picture 4" descr="training-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82880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381744" y="210312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Spårning</a:t>
            </a:r>
            <a:r>
              <a:rPr sz="1300">
                <a:solidFill>
                  <a:srgbClr val="000061"/>
                </a:solidFill>
              </a:rPr>
              <a:t> — håll markören i rutan när det står MANUELL</a:t>
            </a:r>
          </a:p>
        </p:txBody>
      </p:sp>
      <p:pic>
        <p:nvPicPr>
          <p:cNvPr id="7" name="Picture 6" descr="training-com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3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712463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Kommunikation</a:t>
            </a:r>
            <a:r>
              <a:rPr sz="1300">
                <a:solidFill>
                  <a:srgbClr val="000061"/>
                </a:solidFill>
              </a:rPr>
              <a:t> — svara bara på anrop till din egen anropssignal</a:t>
            </a:r>
          </a:p>
        </p:txBody>
      </p:sp>
      <p:pic>
        <p:nvPicPr>
          <p:cNvPr id="9" name="Picture 8" descr="training-re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4069080"/>
            <a:ext cx="2926080" cy="1828800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381744" y="4343400"/>
            <a:ext cx="246888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00061"/>
                </a:solidFill>
              </a:rPr>
              <a:t>Resurshantering</a:t>
            </a:r>
            <a:r>
              <a:rPr sz="1300">
                <a:solidFill>
                  <a:srgbClr val="000061"/>
                </a:solidFill>
              </a:rPr>
              <a:t> — håll tank A och B på målnivån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555F6B"/>
                </a:solidFill>
              </a:rPr>
              <a:t>Förinställningar → Träningslägen: en uppgift i taget på projektorn. Ingen elev-QR än.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MATB provkörning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Alla: en provkörning (2 minuter)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Avsluta inte — låt tiden gå ut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I slutet: läs av </a:t>
            </a:r>
            <a:r>
              <a:rPr b="1" sz="1800">
                <a:solidFill>
                  <a:srgbClr val="000061"/>
                </a:solidFill>
              </a:rPr>
              <a:t>Slutpoäng</a:t>
            </a:r>
            <a:r>
              <a:rPr sz="1800">
                <a:solidFill>
                  <a:srgbClr val="000061"/>
                </a:solidFill>
              </a:rPr>
              <a:t> högst upp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Om en ruta ber om ett namn: tryck på </a:t>
            </a:r>
            <a:r>
              <a:rPr b="1" sz="1800">
                <a:solidFill>
                  <a:srgbClr val="000061"/>
                </a:solidFill>
              </a:rPr>
              <a:t>Hoppa över</a:t>
            </a:r>
            <a:r>
              <a:rPr sz="1800">
                <a:solidFill>
                  <a:srgbClr val="000061"/>
                </a:solidFill>
              </a:rPr>
              <a:t> — inga riktiga namn</a:t>
            </a:r>
          </a:p>
        </p:txBody>
      </p:sp>
      <p:pic>
        <p:nvPicPr>
          <p:cNvPr id="4" name="Picture 3" descr="matb-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tb-2min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/2min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magkosm.github.io/orbarch-edu/2min?lng=sv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Slutskärm: Slutpoäng högst upp; rutan för rekordlistan kan hoppas över.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Förhållandelabb — tyst vs. buller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① Tyst körning — alla tillsammans, högtalare av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② Körning med kabinbuller — alla tillsammans, högtalare på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Skriv in båda poängen i Förhållandelabbet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Läs av </a:t>
            </a:r>
            <a:r>
              <a:rPr b="1" sz="1800">
                <a:solidFill>
                  <a:srgbClr val="000061"/>
                </a:solidFill>
              </a:rPr>
              <a:t>% förändring</a:t>
            </a:r>
            <a:r>
              <a:rPr sz="1800">
                <a:solidFill>
                  <a:srgbClr val="000061"/>
                </a:solidFill>
              </a:rPr>
              <a:t> och för över den till elevbladet</a:t>
            </a:r>
          </a:p>
        </p:txBody>
      </p:sp>
      <p:pic>
        <p:nvPicPr>
          <p:cNvPr id="4" name="Picture 3" descr="condition-lab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dition-lab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/condition-lab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magkosm.github.io/orbarch-edu/condition-lab?lng=sv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Båda poängen inskrivna: jämförelsen och % förändring visas.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Inlärning och platå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3504" y="1828800"/>
          <a:ext cx="694944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920240"/>
            <a:ext cx="3749039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Som en ny sport: du förbättras snabbt, sedan når du en </a:t>
            </a:r>
            <a:r>
              <a:rPr b="1" sz="1600">
                <a:solidFill>
                  <a:srgbClr val="000061"/>
                </a:solidFill>
              </a:rPr>
              <a:t>platå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Dagliga svängningar finns kvar — sömn, humör, mat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Riktiga studier upprepar tills poängen är stabila, </a:t>
            </a:r>
            <a:r>
              <a:rPr b="1" sz="1600">
                <a:solidFill>
                  <a:srgbClr val="000061"/>
                </a:solidFill>
              </a:rPr>
              <a:t>sedan</a:t>
            </a:r>
            <a:r>
              <a:rPr sz="1600">
                <a:solidFill>
                  <a:srgbClr val="000061"/>
                </a:solidFill>
              </a:rPr>
              <a:t> testas förhållanden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Idag får ni ett smakprov på det protokollet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Arkitektursimulator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En illustrativ modell inspirerad av forskning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Reglage: buller · ljus · röra · biofili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Se uppmärksamhet, arbetsminne och stress förändras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Hitta den bästa och den sämsta kabinen</a:t>
            </a:r>
          </a:p>
        </p:txBody>
      </p:sp>
      <p:pic>
        <p:nvPicPr>
          <p:cNvPr id="4" name="Picture 3" descr="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mulator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magkosm.github.io/orbarch-edu/simulator?lng=sv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Dra i reglagen; staplarna uppdateras direkt.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Ritningsdesigner — uppdragsbeskrivning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Designa en stationsmodul på rutnätet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Besättningens kognition </a:t>
            </a:r>
            <a:r>
              <a:rPr b="1" sz="1600">
                <a:solidFill>
                  <a:srgbClr val="000061"/>
                </a:solidFill>
              </a:rPr>
              <a:t>vs.</a:t>
            </a:r>
            <a:r>
              <a:rPr sz="1600">
                <a:solidFill>
                  <a:srgbClr val="000061"/>
                </a:solidFill>
              </a:rPr>
              <a:t> vetenskap och teknik — varje del är en avvägning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Varje modul behöver en fri korridor till </a:t>
            </a:r>
            <a:r>
              <a:rPr b="1" sz="1600">
                <a:solidFill>
                  <a:srgbClr val="000061"/>
                </a:solidFill>
              </a:rPr>
              <a:t>entrén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61"/>
                </a:solidFill>
              </a:rPr>
              <a:t>Mål: </a:t>
            </a:r>
            <a:r>
              <a:rPr b="1" sz="1600">
                <a:solidFill>
                  <a:srgbClr val="000061"/>
                </a:solidFill>
              </a:rPr>
              <a:t>Uppdragsframgång ≥ 70</a:t>
            </a:r>
          </a:p>
        </p:txBody>
      </p:sp>
      <p:pic>
        <p:nvPicPr>
          <p:cNvPr id="4" name="Picture 3" descr="blueprint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print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/blueprint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magkosm.github.io/orbarch-edu/blueprint?lng=sv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Ladda scenario ger en startlayout; checklistan i uppdragsbeskrivningen blir grön efter hand.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Modellabb (valfritt)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920240"/>
            <a:ext cx="3931920" cy="4206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Bygg din egen simulator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Lägg till indata och utfall från whiteboardlistan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Gröna trådar hjälper, röda trådar skadar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00061"/>
                </a:solidFill>
              </a:rPr>
              <a:t>Om det här utfallet är viktigt — vad ska vi designa för?</a:t>
            </a:r>
          </a:p>
        </p:txBody>
      </p:sp>
      <p:pic>
        <p:nvPicPr>
          <p:cNvPr id="4" name="Picture 3" descr="model-lab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14550"/>
            <a:ext cx="4206240" cy="2628899"/>
          </a:xfrm>
          <a:prstGeom prst="rect">
            <a:avLst/>
          </a:prstGeom>
          <a:ln w="9525">
            <a:solidFill>
              <a:srgbClr val="C8D0DA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9189720" y="1920240"/>
            <a:ext cx="2395728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del-lab-s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024" y="201168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89720" y="4160520"/>
            <a:ext cx="2395728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>
                <a:solidFill>
                  <a:srgbClr val="000061"/>
                </a:solidFill>
              </a:rPr>
              <a:t>Skanna för att öppna</a:t>
            </a:r>
          </a:p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00061"/>
                </a:solidFill>
              </a:rPr>
              <a:t>/model-lab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555F6B"/>
                </a:solidFill>
              </a:rPr>
              <a:t>magkosm.github.io/orbarch-edu/model-lab?lng=sv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394960"/>
            <a:ext cx="6858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555F6B"/>
                </a:solidFill>
              </a:rPr>
              <a:t>Interaktionskartan visar varje koppling i modellen.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Utgångsbiljett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783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555F6B"/>
                </a:solidFill>
              </a:rPr>
              <a:t>Två post-it-lappar per elev — skriv ditt namn på varje.</a:t>
            </a:r>
          </a:p>
        </p:txBody>
      </p:sp>
      <p:sp>
        <p:nvSpPr>
          <p:cNvPr id="4" name="Rectangle 3"/>
          <p:cNvSpPr/>
          <p:nvPr/>
        </p:nvSpPr>
        <p:spPr>
          <a:xfrm rot="21480000">
            <a:off x="1463040" y="2468880"/>
            <a:ext cx="4114800" cy="3291840"/>
          </a:xfrm>
          <a:prstGeom prst="rect">
            <a:avLst/>
          </a:prstGeom>
          <a:solidFill>
            <a:srgbClr val="FFE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① Hjälper kognitionen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något i arkitekturen som hjälper besättningens sinne</a:t>
            </a:r>
          </a:p>
        </p:txBody>
      </p:sp>
      <p:sp>
        <p:nvSpPr>
          <p:cNvPr id="5" name="Rectangle 4"/>
          <p:cNvSpPr/>
          <p:nvPr/>
        </p:nvSpPr>
        <p:spPr>
          <a:xfrm rot="120000">
            <a:off x="6583679" y="2468880"/>
            <a:ext cx="4114800" cy="3291840"/>
          </a:xfrm>
          <a:prstGeom prst="rect">
            <a:avLst/>
          </a:prstGeom>
          <a:solidFill>
            <a:srgbClr val="FF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b="1" sz="2000">
                <a:solidFill>
                  <a:srgbClr val="000061"/>
                </a:solidFill>
              </a:rPr>
              <a:t>② Försämrar kognitionen</a:t>
            </a:r>
          </a:p>
          <a:p>
            <a:pPr algn="ctr">
              <a:spcAft>
                <a:spcPts val="200"/>
              </a:spcAft>
            </a:pPr>
            <a:r>
              <a:rPr sz="2000">
                <a:solidFill>
                  <a:srgbClr val="000061"/>
                </a:solidFill>
              </a:rPr>
              <a:t>något i arkitekturen som försämrar den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7373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</a:rPr>
              <a:t>Fyra saker att ta med 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3383280"/>
            <a:ext cx="10515600" cy="2926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Rymden är för alla.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Arkitektur handlar om människor.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Design är en serie avvägningar.</a:t>
            </a:r>
          </a:p>
          <a:p>
            <a:pPr>
              <a:spcAft>
                <a:spcPts val="1000"/>
              </a:spcAft>
            </a:pPr>
            <a:r>
              <a:rPr b="1" sz="2200">
                <a:solidFill>
                  <a:srgbClr val="FFFFFF"/>
                </a:solidFill>
              </a:rPr>
              <a:t>Ni är framtiden för rymdutforskning.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4000"/>
              <a:t>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800"/>
              <a:t>magkosm.github.io/orbarch-edu</a:t>
            </a:r>
          </a:p>
          <a:p>
            <a:pPr>
              <a:spcAft>
                <a:spcPts val="600"/>
              </a:spcAft>
            </a:pPr>
            <a:r>
              <a:rPr sz="1800"/>
              <a:t>Orbital Architecture · KTH Kungliga Tekniska högskolan · ESERO Sverige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78240" y="17373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ub-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92024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45262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Öppna appen hemma</a:t>
            </a:r>
          </a:p>
        </p:txBody>
      </p:sp>
      <p:pic>
        <p:nvPicPr>
          <p:cNvPr id="7" name="Picture 6" descr="eser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5257800"/>
            <a:ext cx="1477409" cy="594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98480" y="5184648"/>
            <a:ext cx="8229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5221224"/>
            <a:ext cx="587559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 PPT template 251203.potx" id="{B9D87BD4-659E-40F0-9595-7EDEBA7F7B08}" vid="{8372EC08-571E-42EA-AAF5-CEC4489AF2D9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4789026152694A8ADBFB64A3DEF8D3" ma:contentTypeVersion="4" ma:contentTypeDescription="Create a new document." ma:contentTypeScope="" ma:versionID="3af6c6ad297b0e32a0e04aa7b03d11e4">
  <xsd:schema xmlns:xsd="http://www.w3.org/2001/XMLSchema" xmlns:xs="http://www.w3.org/2001/XMLSchema" xmlns:p="http://schemas.microsoft.com/office/2006/metadata/properties" xmlns:ns2="4115e1da-3f65-45a4-b4c2-0bec33cf021f" xmlns:ns3="5cba28c0-a866-4240-81c2-3ce50963478d" targetNamespace="http://schemas.microsoft.com/office/2006/metadata/properties" ma:root="true" ma:fieldsID="3968f54b15f0209a2e5295d050fc54a9" ns2:_="" ns3:_="">
    <xsd:import namespace="4115e1da-3f65-45a4-b4c2-0bec33cf021f"/>
    <xsd:import namespace="5cba28c0-a866-4240-81c2-3ce5096347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15e1da-3f65-45a4-b4c2-0bec33cf021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a28c0-a866-4240-81c2-3ce5096347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4115e1da-3f65-45a4-b4c2-0bec33cf021f">3NPU4AMNSMUR-960428013-26</_dlc_DocId>
    <_dlc_DocIdUrl xmlns="4115e1da-3f65-45a4-b4c2-0bec33cf021f">
      <Url>https://kth.sharepoint.com/sites/kth_assets/_layouts/15/DocIdRedir.aspx?ID=3NPU4AMNSMUR-960428013-26</Url>
      <Description>3NPU4AMNSMUR-960428013-26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B0C768-CFA7-4176-850A-22F4B13BA47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783458C-019C-4AF0-A24B-F9802396A7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15e1da-3f65-45a4-b4c2-0bec33cf021f"/>
    <ds:schemaRef ds:uri="5cba28c0-a866-4240-81c2-3ce5096347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00A54A-E32A-4A07-A193-E8AE92B10479}">
  <ds:schemaRefs>
    <ds:schemaRef ds:uri="http://schemas.microsoft.com/office/2006/metadata/properties"/>
    <ds:schemaRef ds:uri="http://schemas.microsoft.com/office/infopath/2007/PartnerControls"/>
    <ds:schemaRef ds:uri="4115e1da-3f65-45a4-b4c2-0bec33cf021f"/>
  </ds:schemaRefs>
</ds:datastoreItem>
</file>

<file path=customXml/itemProps4.xml><?xml version="1.0" encoding="utf-8"?>
<ds:datastoreItem xmlns:ds="http://schemas.openxmlformats.org/officeDocument/2006/customXml" ds:itemID="{AE4A7C1A-8C6A-4724-9851-61214B1837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0</TotalTime>
  <Words>0</Words>
  <Application>Microsoft Macintosh PowerPoint</Application>
  <PresentationFormat>Widescreen</PresentationFormat>
  <Paragraphs>0</Paragraphs>
  <Slides>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Figtree</vt:lpstr>
      <vt:lpstr>Arial</vt:lpstr>
      <vt:lpstr>Calibri</vt:lpstr>
      <vt:lpstr>Office-tema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Michail Magkos</dc:creator>
  <cp:lastModifiedBy>Michail Magkos</cp:lastModifiedBy>
  <cp:revision>1</cp:revision>
  <dcterms:created xsi:type="dcterms:W3CDTF">2026-10-06T10:54:02Z</dcterms:created>
  <dcterms:modified xsi:type="dcterms:W3CDTF">2026-10-06T10:54:10Z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0x010100454789026152694A8ADBFB64A3DEF8D3</vt:lpwstr>
  </property>
  <property fmtid="{D5CDD505-2E9C-101B-9397-08002B2CF9AE}" pid="3" name="_dlc_DocIdItemGuid">
    <vt:lpwstr>727452b2-8c07-49fa-9c22-9c1873a3a1f2</vt:lpwstr>
  </property>
</Properties>
</file>